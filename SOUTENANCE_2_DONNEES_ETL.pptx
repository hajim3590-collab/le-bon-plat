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2  ·  15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Collecte, stockage &amp;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disposition des données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Système de recommandation de plats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00400" cy="457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presenter : Étudiant · Certification Développeur en Intelligence Artificielle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&amp; projet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avant d'entrer dans l'architecture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mon rôle sur le projet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442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réalisé en équipe dans le cadre d'une certification Développeur en Intelligence Artificielle.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Cadrage du besoin métier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Collecte et préparation des données (7 sources)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Développement du pipeline ETL Python (pandas)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et export du dataset final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Intégration avec le modèle ML 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 Bon Plat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3368" y="1792224"/>
            <a:ext cx="5029200" cy="442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est un système de recommandation de plats qui suggère le meilleur plat à commander selon la météo, le budget du client et les préférences passées.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solution s'appuie sur 7 sources de données hétérogènes (menus, prix concurrents, ventes historiques, météo) consolidées en un dataset propre par un pipeline ETL Python, exploitable directement par le modèle Random Forest.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parties principales pour suivre le cycle de vie complet de la donnée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57200" cy="45720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besoin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problème métier et le périmètre.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521208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291840"/>
            <a:ext cx="457200" cy="457200"/>
          </a:xfrm>
          <a:prstGeom prst="rect">
            <a:avLst>
              <a:gd name="adj" fmla="val 50000"/>
            </a:avLst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multi-sources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Acquérir depuis 7 sources hétérogènes — CSV, JSON.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521208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983480"/>
            <a:ext cx="457200" cy="457200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937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préparation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transformer sans perdre la traçabilité.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742432"/>
            <a:ext cx="521208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4768" y="1600200"/>
            <a:ext cx="457200" cy="457200"/>
          </a:xfrm>
          <a:prstGeom prst="rect">
            <a:avLst>
              <a:gd name="adj" fmla="val 50000"/>
            </a:avLst>
          </a:prstGeom>
          <a:solidFill>
            <a:srgbClr val="8064A2"/>
          </a:solidFill>
          <a:ln/>
        </p:spPr>
      </p:sp>
      <p:sp>
        <p:nvSpPr>
          <p:cNvPr id="23" name="Text 21"/>
          <p:cNvSpPr/>
          <p:nvPr/>
        </p:nvSpPr>
        <p:spPr>
          <a:xfrm>
            <a:off x="614476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39128" y="1554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&amp; organisation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39128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data/raw → data/processed reproductible.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4768" y="2359152"/>
            <a:ext cx="521208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44768" y="3291840"/>
            <a:ext cx="457200" cy="457200"/>
          </a:xfrm>
          <a:prstGeom prst="rect">
            <a:avLst>
              <a:gd name="adj" fmla="val 50000"/>
            </a:avLst>
          </a:prstGeom>
          <a:solidFill>
            <a:srgbClr val="F79646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39128" y="3246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complet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39128" y="3611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Extract-Transform-Load avec code Python.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4768" y="4050792"/>
            <a:ext cx="521208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32" name="Shape 30"/>
          <p:cNvSpPr/>
          <p:nvPr/>
        </p:nvSpPr>
        <p:spPr>
          <a:xfrm>
            <a:off x="6144768" y="4983480"/>
            <a:ext cx="457200" cy="457200"/>
          </a:xfrm>
          <a:prstGeom prst="rect">
            <a:avLst>
              <a:gd name="adj" fmla="val 50000"/>
            </a:avLst>
          </a:prstGeom>
          <a:solidFill>
            <a:srgbClr val="12B8B0"/>
          </a:solidFill>
          <a:ln/>
        </p:spPr>
      </p:sp>
      <p:sp>
        <p:nvSpPr>
          <p:cNvPr id="33" name="Text 31"/>
          <p:cNvSpPr/>
          <p:nvPr/>
        </p:nvSpPr>
        <p:spPr>
          <a:xfrm>
            <a:off x="614476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39128" y="4937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bilan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39128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validation, dataset final prêt pour le ML.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44768" y="5742432"/>
            <a:ext cx="5212080" cy="18288"/>
          </a:xfrm>
          <a:prstGeom prst="rect">
            <a:avLst/>
          </a:prstGeom>
          <a:solidFill>
            <a:srgbClr val="DCE3E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besoin data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la problématique métier et la finalité du projet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pourquoi fiabiliser la donnée avant le modèle ML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 périmètre : 7 sources, formats hétérogènes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besoin métier au socle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fiabiliser la donnée avant toute utilisation par le modèle 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566160" cy="5230368"/>
          </a:xfrm>
          <a:prstGeom prst="rect">
            <a:avLst>
              <a:gd name="adj" fmla="val 3077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besoin métier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3108960" cy="442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doit recommander le bon plat au bon client au bon moment.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exige des données fiables sur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plats disponibles et leurs prix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préférences et l'historique de ventes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météo du jour (impact sur la demande)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prix concurrents (positionnement)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1170432"/>
            <a:ext cx="3566160" cy="5230368"/>
          </a:xfrm>
          <a:prstGeom prst="rect">
            <a:avLst>
              <a:gd name="adj" fmla="val 3077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3533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le socle fiable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3128" y="1792224"/>
            <a:ext cx="3108960" cy="442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Random Forest ne peut apprendre correctement que si les données d'entrée sont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Cohérentes (même format, même unité)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Sans doublons ni valeurs aberrantes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Normalisées (catégories standardisées)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Complètes sur les champs obligatoires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mauvaise donnée → une mauvaise recommandation.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1856" y="1170432"/>
            <a:ext cx="3566160" cy="5230368"/>
          </a:xfrm>
          <a:prstGeom prst="rect">
            <a:avLst>
              <a:gd name="adj" fmla="val 3077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0456" y="13533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 périmètre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0456" y="1792224"/>
            <a:ext cx="3108960" cy="442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collectées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sources menus (fournisseur, BD, site web)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source prix concurrents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source ventes historiques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source météo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source boissons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pipeline ETL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dataset final : 22 plats propres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multi-sources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7 sources et leurs formats (CSV, JSON)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l'extraction avec Python pandas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données brutes et les anomalies détectées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complémentaires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collecte couvre un contexte réel où les données viennent de systèmes différents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06040" cy="2468880"/>
          </a:xfrm>
          <a:prstGeom prst="rect">
            <a:avLst>
              <a:gd name="adj" fmla="val 4444"/>
            </a:avLst>
          </a:prstGeom>
          <a:solidFill>
            <a:srgbClr val="DCE3E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2606040" cy="347472"/>
          </a:xfrm>
          <a:prstGeom prst="rect">
            <a:avLst>
              <a:gd name="adj" fmla="val 31579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16736"/>
            <a:ext cx="2606040" cy="20116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70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menu_fournisseur.csv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plats · prix en € · catégorie libre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anomalies détectées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1170432"/>
            <a:ext cx="2606040" cy="2468880"/>
          </a:xfrm>
          <a:prstGeom prst="rect">
            <a:avLst>
              <a:gd name="adj" fmla="val 4444"/>
            </a:avLst>
          </a:prstGeom>
          <a:solidFill>
            <a:srgbClr val="E8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170432"/>
            <a:ext cx="2606040" cy="347472"/>
          </a:xfrm>
          <a:prstGeom prst="rect">
            <a:avLst>
              <a:gd name="adj" fmla="val 31579"/>
            </a:avLst>
          </a:prstGeom>
          <a:solidFill>
            <a:srgbClr val="12B8B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64408" y="1316736"/>
            <a:ext cx="2606040" cy="20116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1170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menu_database_export.csv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19659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plats · codes ENT/PDJ/GRL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prix en centimes (850 = 8,50€)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1170432"/>
            <a:ext cx="2606040" cy="2468880"/>
          </a:xfrm>
          <a:prstGeom prst="rect">
            <a:avLst>
              <a:gd name="adj" fmla="val 4444"/>
            </a:avLst>
          </a:prstGeom>
          <a:solidFill>
            <a:srgbClr val="EB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1616" y="1170432"/>
            <a:ext cx="2606040" cy="347472"/>
          </a:xfrm>
          <a:prstGeom prst="rect">
            <a:avLst>
              <a:gd name="adj" fmla="val 31579"/>
            </a:avLst>
          </a:prstGeom>
          <a:solidFill>
            <a:srgbClr val="12B8B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1316736"/>
            <a:ext cx="2606040" cy="20116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2" name="Text 20"/>
          <p:cNvSpPr/>
          <p:nvPr/>
        </p:nvSpPr>
        <p:spPr>
          <a:xfrm>
            <a:off x="6071616" y="1170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08776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menu_site_web.json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08776" y="19659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plats · prix texte "8,50 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parsing et conversion nécessaires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78824" y="1170432"/>
            <a:ext cx="2606040" cy="2468880"/>
          </a:xfrm>
          <a:prstGeom prst="rect">
            <a:avLst>
              <a:gd name="adj" fmla="val 4444"/>
            </a:avLst>
          </a:prstGeom>
          <a:solidFill>
            <a:srgbClr val="DCE3EA"/>
          </a:solidFill>
          <a:ln/>
        </p:spPr>
      </p:sp>
      <p:sp>
        <p:nvSpPr>
          <p:cNvPr id="26" name="Shape 24"/>
          <p:cNvSpPr/>
          <p:nvPr/>
        </p:nvSpPr>
        <p:spPr>
          <a:xfrm>
            <a:off x="8878824" y="1170432"/>
            <a:ext cx="2606040" cy="347472"/>
          </a:xfrm>
          <a:prstGeom prst="rect">
            <a:avLst>
              <a:gd name="adj" fmla="val 31579"/>
            </a:avLst>
          </a:prstGeom>
          <a:solidFill>
            <a:srgbClr val="12B8B0"/>
          </a:solidFill>
          <a:ln/>
        </p:spPr>
      </p:sp>
      <p:sp>
        <p:nvSpPr>
          <p:cNvPr id="27" name="Shape 25"/>
          <p:cNvSpPr/>
          <p:nvPr/>
        </p:nvSpPr>
        <p:spPr>
          <a:xfrm>
            <a:off x="8878824" y="1316736"/>
            <a:ext cx="2606040" cy="20116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8" name="Text 26"/>
          <p:cNvSpPr/>
          <p:nvPr/>
        </p:nvSpPr>
        <p:spPr>
          <a:xfrm>
            <a:off x="8878824" y="1170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15984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competitor_prices.csv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15984" y="19659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concurrents · 3 invalides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prix NaN ou nom = "n/a"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25880" y="3840480"/>
            <a:ext cx="3310128" cy="2377440"/>
          </a:xfrm>
          <a:prstGeom prst="rect">
            <a:avLst>
              <a:gd name="adj" fmla="val 4615"/>
            </a:avLst>
          </a:prstGeom>
          <a:solidFill>
            <a:srgbClr val="E8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5880" y="3840480"/>
            <a:ext cx="3310128" cy="347472"/>
          </a:xfrm>
          <a:prstGeom prst="rect">
            <a:avLst>
              <a:gd name="adj" fmla="val 31579"/>
            </a:avLst>
          </a:prstGeom>
          <a:solidFill>
            <a:srgbClr val="3A7E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325880" y="4059936"/>
            <a:ext cx="3310128" cy="128016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34" name="Text 32"/>
          <p:cNvSpPr/>
          <p:nvPr/>
        </p:nvSpPr>
        <p:spPr>
          <a:xfrm>
            <a:off x="1325880" y="384048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63040" y="4251960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sales_history.csv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63040" y="4645152"/>
            <a:ext cx="30358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historiques par plat et météo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 d'apprentissage du modèle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18888" y="3840480"/>
            <a:ext cx="3310128" cy="2377440"/>
          </a:xfrm>
          <a:prstGeom prst="rect">
            <a:avLst>
              <a:gd name="adj" fmla="val 4615"/>
            </a:avLst>
          </a:prstGeom>
          <a:solidFill>
            <a:srgbClr val="EBF2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18888" y="3840480"/>
            <a:ext cx="3310128" cy="347472"/>
          </a:xfrm>
          <a:prstGeom prst="rect">
            <a:avLst>
              <a:gd name="adj" fmla="val 31579"/>
            </a:avLst>
          </a:prstGeom>
          <a:solidFill>
            <a:srgbClr val="3A7E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818888" y="4059936"/>
            <a:ext cx="3310128" cy="128016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18888" y="384048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56048" y="4251960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weather_forecast.json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56048" y="4645152"/>
            <a:ext cx="30358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météo et budget moyen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enrichissement des recommandations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11896" y="3840480"/>
            <a:ext cx="3310128" cy="2377440"/>
          </a:xfrm>
          <a:prstGeom prst="rect">
            <a:avLst>
              <a:gd name="adj" fmla="val 4615"/>
            </a:avLst>
          </a:prstGeom>
          <a:solidFill>
            <a:srgbClr val="DCE3EA"/>
          </a:solidFill>
          <a:ln/>
        </p:spPr>
      </p:sp>
      <p:sp>
        <p:nvSpPr>
          <p:cNvPr id="44" name="Shape 42"/>
          <p:cNvSpPr/>
          <p:nvPr/>
        </p:nvSpPr>
        <p:spPr>
          <a:xfrm>
            <a:off x="8311896" y="3840480"/>
            <a:ext cx="3310128" cy="347472"/>
          </a:xfrm>
          <a:prstGeom prst="rect">
            <a:avLst>
              <a:gd name="adj" fmla="val 31579"/>
            </a:avLst>
          </a:prstGeom>
          <a:solidFill>
            <a:srgbClr val="3A7E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311896" y="4059936"/>
            <a:ext cx="3310128" cy="128016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46" name="Text 44"/>
          <p:cNvSpPr/>
          <p:nvPr/>
        </p:nvSpPr>
        <p:spPr>
          <a:xfrm>
            <a:off x="8311896" y="384048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49056" y="4251960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beverages.csv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49056" y="4645152"/>
            <a:ext cx="30358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Boissons complémentaires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offre complète du restaurant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collecte &amp; traçabilité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l'acquisition tout en conservant les données d'origine pour reproductibilité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4956048"/>
          </a:xfrm>
          <a:prstGeom prst="rect">
            <a:avLst>
              <a:gd name="adj" fmla="val 2214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les scripts d'extraction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493776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Python par type de source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clean_data.py — orchestrateur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pd.read_csv() — chargement 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pd.read_json() — chargement 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source est chargée indépendamment pour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isoler les anomalies par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conserver les données brutes intactes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permettre la rejouabilité du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la structure data/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81928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raw/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menu_fournisseur.csv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menu_database_export.csv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menu_site_web.json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competitor_prices.csv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sales_history.csv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├── weather_forecast.json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└── beverages.csv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processed/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└── menu_final_clean.csv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brutes ne sont jamais modifiées.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— aperçu des données sources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Illustrer la réalité des formats bruts et les problèmes à corriger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menu_fournisseur.csv — données brutes (8 lignes)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47472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219456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005072" y="1463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109728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199632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463040"/>
            <a:ext cx="109728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7296912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8288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 Cesar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1828800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18288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8288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18288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267712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6771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Soupe oignon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2267712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22677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26771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2677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226771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22677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2706624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270662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Poulet roti frites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31920" y="2706624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27066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270662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2706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23760" y="270662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2706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145536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145536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Risotto champignons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31920" y="3145536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05072" y="314553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3145536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14553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23760" y="3145536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314553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584448"/>
            <a:ext cx="3474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584448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Tarte tatin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31920" y="3584448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05072" y="358444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26480" y="358444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35844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23760" y="358444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35844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023360"/>
            <a:ext cx="347472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40233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mystere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931920" y="4023360"/>
            <a:ext cx="2194560" cy="420624"/>
          </a:xfrm>
          <a:prstGeom prst="rect">
            <a:avLst/>
          </a:prstGeom>
          <a:solidFill>
            <a:srgbClr val="FFE0E0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05072" y="4023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26480" y="4023360"/>
            <a:ext cx="109728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9632" y="40233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223760" y="4023360"/>
            <a:ext cx="109728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96912" y="40233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462272"/>
            <a:ext cx="347472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446227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Fondant chocolat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931920" y="4462272"/>
            <a:ext cx="219456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05072" y="4462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126480" y="4462272"/>
            <a:ext cx="1097280" cy="420624"/>
          </a:xfrm>
          <a:prstGeom prst="rect">
            <a:avLst/>
          </a:prstGeom>
          <a:solidFill>
            <a:srgbClr val="FFE0E0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99632" y="446227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23760" y="4462272"/>
            <a:ext cx="109728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96912" y="446227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" y="4901184"/>
            <a:ext cx="347472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4901184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 complete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931920" y="4901184"/>
            <a:ext cx="219456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5072" y="490118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126480" y="4901184"/>
            <a:ext cx="1097280" cy="420624"/>
          </a:xfrm>
          <a:prstGeom prst="rect">
            <a:avLst/>
          </a:prstGeom>
          <a:solidFill>
            <a:srgbClr val="FFF3F3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99632" y="490118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23760" y="4901184"/>
            <a:ext cx="1097280" cy="420624"/>
          </a:xfrm>
          <a:prstGeom prst="rect">
            <a:avLst/>
          </a:prstGeom>
          <a:solidFill>
            <a:srgbClr val="FFE0E0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96912" y="490118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57200" y="6291072"/>
            <a:ext cx="8412480" cy="347472"/>
          </a:xfrm>
          <a:prstGeom prst="rect">
            <a:avLst>
              <a:gd name="adj" fmla="val 15789"/>
            </a:avLst>
          </a:prstGeom>
          <a:solidFill>
            <a:srgbClr val="FFE0E0"/>
          </a:solidFill>
          <a:ln/>
        </p:spPr>
      </p:sp>
      <p:sp>
        <p:nvSpPr>
          <p:cNvPr id="81" name="Text 79"/>
          <p:cNvSpPr/>
          <p:nvPr/>
        </p:nvSpPr>
        <p:spPr>
          <a:xfrm>
            <a:off x="594360" y="6291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en rouge = anomalies détectées → ligne 6 : catégorie vide · ligne 7 : prix absent · ligne 8 : devise "none"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979408" y="1115568"/>
            <a:ext cx="2743200" cy="4956048"/>
          </a:xfrm>
          <a:prstGeom prst="rect">
            <a:avLst>
              <a:gd name="adj" fmla="val 4000"/>
            </a:avLst>
          </a:prstGeom>
          <a:solidFill>
            <a:srgbClr val="EBF2FF"/>
          </a:solidFill>
          <a:ln/>
        </p:spPr>
      </p:sp>
      <p:sp>
        <p:nvSpPr>
          <p:cNvPr id="83" name="Text 81"/>
          <p:cNvSpPr/>
          <p:nvPr/>
        </p:nvSpPr>
        <p:spPr>
          <a:xfrm>
            <a:off x="9208008" y="1298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anomalies par source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208008" y="1737360"/>
            <a:ext cx="22860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menu_fournisseur.csv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anomalies (catégorie vide, prix absent, devise invalide)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competitor_prices.csv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invalides (prix NaN ×2, nom "n/a" ×1)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menu_database_export.csv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prix en centimes, codes non lisibles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menu_site_web.json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prix format texte "8,50 e"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préparation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qualité à plusieurs étapes du pipeline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transformer sans perdre la traçabilité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le dataset final exploitable par le ML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avant de transformer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est évaluée source par source pour éviter de propager les anomalies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EBF2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anomalies détectées par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menu_fournisseur.csv (8 lignes)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ligne 6 : catégorie vide → impossible à consolider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ligne 7 : prix absent → récupéré via menu_site_web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ligne 8 : devise "none" invalide → plat suspect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menu_database_export.csv (15 lignes)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prix en centimes (850) → division par 100 nécessaire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catégories en codes (ENT, PDJ, GRL…)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menu_site_web.json (11 plats)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prix au format texte "8,50 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conversion str → float requise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competitor_prices.csv (10 lignes)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prix NaN → lignes supprimées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nom = "n/a" → ligne invalide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contrôles appliqués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3368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Valeurs manquantes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dropna(subset=["nom","prix"])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Cohérence des devises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filtre devise != "none"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Plages de prix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 &lt; prix &lt; 100 €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Doublons inter-sources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drop_duplicates(subset="nom")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Types de données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prix → float, nom → str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Volumes attendus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contrôle avant/après concat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8 + 15 + 11 = 34 bruts → 22 propres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transformation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Python réel — src/clean_data.py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486400" cy="2606040"/>
          </a:xfrm>
          <a:prstGeom prst="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52728"/>
            <a:ext cx="5120640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df_four = pd.read_csv("data/raw/menu_fournisseur.csv")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df_db   = pd.read_csv("data/raw/menu_database_export.csv")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df_web  = pd.read_json("data/raw/menu_site_web.json")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Nettoyage fournisseur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df_four = df_four.dropna(subset=["nom", "prix"])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df_four = df_four[df_four["devise"] != "none"]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5486400" cy="2514600"/>
          </a:xfrm>
          <a:prstGeom prst="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95928"/>
            <a:ext cx="5120640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Transformation BD : centimes → euros + codes → labels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cat_map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"ENT":"Entree", "PDJ":"Plat_du_jour",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"GRL":"Grill",  "VEG":"Vegetarien",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"DES":"Dessert","ENF":"Enfant"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df_db["categorie"] = df_db["category_code"].map(cat_map)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df_db["prix"]      = df_db["price_cents"] /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df_db = df_db.drop(columns=["item_id","category_code",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"price_cents","is_active"])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44768" y="1143000"/>
            <a:ext cx="5486400" cy="2606040"/>
          </a:xfrm>
          <a:prstGeom prst="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252728"/>
            <a:ext cx="5120640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Transformation site web : texte → float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df_web["prix"] =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df_web["prix"]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.str.replace(",", ".")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.str.extract(r"([d.]+)")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.astype(float)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df_web = df_web.rename(columns={"nom":"nom","categorie":"categorie"})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3886200"/>
            <a:ext cx="5486400" cy="2514600"/>
          </a:xfrm>
          <a:prstGeom prst="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995928"/>
            <a:ext cx="5120640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Harmonisation des colonnes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df in [df_four, df_db, df_web]: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df.rename(columns={"name":"nom","price":"prix",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"category":"categorie"}, inplace=True)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Consolidation finale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df_final = pd.concat([df_four, df_db, df_web],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ignore_index=True)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df_final = df_final.drop_duplicates(subset="nom")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df_final.to_csv(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"data/processed/menu_final_clean.csv", index=False)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le dataset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les sources nettoyées dans un jeu de données stable pour le modèle 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1274552" cy="502920"/>
          </a:xfrm>
          <a:prstGeom prst="rect">
            <a:avLst>
              <a:gd name="adj" fmla="val 18182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70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final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1704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data/processed/menu_final_clean.csv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0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plats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1148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874520"/>
            <a:ext cx="22860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745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874520"/>
            <a:ext cx="13716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8745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1874520"/>
            <a:ext cx="2286000" cy="347472"/>
          </a:xfrm>
          <a:prstGeom prst="rect">
            <a:avLst/>
          </a:prstGeom>
          <a:solidFill>
            <a:srgbClr val="0E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8745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24028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 Cesar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24028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40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240280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2402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224028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240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679192"/>
            <a:ext cx="41148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67919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Poulet roti frites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679192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67919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679192"/>
            <a:ext cx="1371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6791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2679192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67919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11810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11810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Entrecote grillee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11810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11810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3118104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311810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0" y="311810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311810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557016"/>
            <a:ext cx="41148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55701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Curry de legumes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3557016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55701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0" y="3557016"/>
            <a:ext cx="1371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55701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3557016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1040" y="355701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9959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99592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Tarte tatin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0" y="3995928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9959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58000" y="3995928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399592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229600" y="3995928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21040" y="39959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site_web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434840"/>
            <a:ext cx="41148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43484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Fondant chocolat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0" y="4434840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434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0" y="4434840"/>
            <a:ext cx="1371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443484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29600" y="4434840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4434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site_web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48737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487375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nuggets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0" y="487375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487375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858000" y="4873752"/>
            <a:ext cx="1371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49440" y="48737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229600" y="487375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21040" y="487375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57200" y="5312664"/>
            <a:ext cx="41148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531266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Buddha bowl legumes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572000" y="5312664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63440" y="53126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858000" y="5312664"/>
            <a:ext cx="1371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0" y="531266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229600" y="5312664"/>
            <a:ext cx="22860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1040" y="53126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site_web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57200" y="5751576"/>
            <a:ext cx="4114800" cy="420624"/>
          </a:xfrm>
          <a:prstGeom prst="rect">
            <a:avLst/>
          </a:prstGeom>
          <a:solidFill>
            <a:srgbClr val="E8F7F6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" y="575157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(22 plats total)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72000" y="5751576"/>
            <a:ext cx="2286000" cy="420624"/>
          </a:xfrm>
          <a:prstGeom prst="rect">
            <a:avLst/>
          </a:prstGeom>
          <a:solidFill>
            <a:srgbClr val="E8F7F6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575157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858000" y="5751576"/>
            <a:ext cx="1371600" cy="420624"/>
          </a:xfrm>
          <a:prstGeom prst="rect">
            <a:avLst/>
          </a:prstGeom>
          <a:solidFill>
            <a:srgbClr val="E8F7F6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49440" y="575157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229600" y="5751576"/>
            <a:ext cx="2286000" cy="420624"/>
          </a:xfrm>
          <a:prstGeom prst="rect">
            <a:avLst/>
          </a:prstGeom>
          <a:solidFill>
            <a:srgbClr val="E8F7F6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21040" y="575157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0241280" y="1874520"/>
            <a:ext cx="1737360" cy="4572000"/>
          </a:xfrm>
          <a:prstGeom prst="rect">
            <a:avLst>
              <a:gd name="adj" fmla="val 6316"/>
            </a:avLst>
          </a:prstGeom>
          <a:solidFill>
            <a:srgbClr val="EBF2FF"/>
          </a:solidFill>
          <a:ln/>
        </p:spPr>
      </p:sp>
      <p:sp>
        <p:nvSpPr>
          <p:cNvPr id="92" name="Text 90"/>
          <p:cNvSpPr/>
          <p:nvPr/>
        </p:nvSpPr>
        <p:spPr>
          <a:xfrm>
            <a:off x="10469880" y="2057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rôle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10469880" y="2496312"/>
            <a:ext cx="128016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pour le modèle Random Forest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 avec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météo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ventes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&amp; organisation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données brutes et données traitées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traçabilité et la reproductibilité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structure data/ standardisée et versionnable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stockage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ne jamais modifier les données brutes — conserver la traçabilité complète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4956048"/>
          </a:xfrm>
          <a:prstGeom prst="rect">
            <a:avLst>
              <a:gd name="adj" fmla="val 2214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data/raw/ — données brutes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493776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les fichiers originaux tels que reçus.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modifiés par le pipeline.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menu_fournisseur.csv        8 lignes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menu_database_export.csv   15 lignes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menu_site_web.json         11 plats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competitor_prices.csv      10 lignes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sales_history.csv          n lignes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weather_forecast.json      n jours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beverages.csv              n boissons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Reproductibilité garantie : on peut relancer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pipeline depuis zéro à tout moment.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170432"/>
            <a:ext cx="5486400" cy="2331720"/>
          </a:xfrm>
          <a:prstGeom prst="rect">
            <a:avLst>
              <a:gd name="adj" fmla="val 4706"/>
            </a:avLst>
          </a:prstGeom>
          <a:solidFill>
            <a:srgbClr val="E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data/processed/ — données traitées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81928" y="1792224"/>
            <a:ext cx="502920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 dataset final prêt pour le ML.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menu_final_clean.csv — 22 plats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modeles_comparaison_v3.csv — résultats 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best_model.pkl — modèle entraîné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confusion_matrix_v3.png — évaluation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53328" y="3721608"/>
            <a:ext cx="5486400" cy="2404872"/>
          </a:xfrm>
          <a:prstGeom prst="rect">
            <a:avLst>
              <a:gd name="adj" fmla="val 4563"/>
            </a:avLst>
          </a:prstGeom>
          <a:solidFill>
            <a:srgbClr val="EB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3904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src/ — code source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1928" y="434340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       pipeline ETL complet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model_training.py   entraînement 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              API REST FastAPI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script par responsabilité.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— format du dataset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la structure réelle de menu_final_clean.csv après ETL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4956048"/>
          </a:xfrm>
          <a:prstGeom prst="rect">
            <a:avLst>
              <a:gd name="adj" fmla="val 1476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12064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 de : df_final.info()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22 entries, 0 to 21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columns (total 4 columns):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        22 non-null 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categorie  22 non-null 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prix       22 non-null  float64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22 non-null  object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dtypes: float64(1), object(3)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missing values.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Vérification unicité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df_final["nom"].nunique()  →  22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Distribution par catégorie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df_final.groupby("categorie").size()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Entree         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Plat_du_jour   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Grill          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Vegetarien     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Dessert        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Enfant         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44768" y="1170432"/>
            <a:ext cx="5486400" cy="2103120"/>
          </a:xfrm>
          <a:prstGeom prst="rect">
            <a:avLst>
              <a:gd name="adj" fmla="val 5217"/>
            </a:avLst>
          </a:prstGeom>
          <a:solidFill>
            <a:srgbClr val="E8F7F6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contrôle qualité final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3368" y="1792224"/>
            <a:ext cx="50292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22 lignes — aucune valeur nulle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Prix min : 6.0 € | max : 24.0 €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catégories standardisées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sources représentées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Aucun doublon sur le nom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3456432"/>
            <a:ext cx="5486400" cy="2852928"/>
          </a:xfrm>
          <a:prstGeom prst="rect">
            <a:avLst>
              <a:gd name="adj" fmla="val 3846"/>
            </a:avLst>
          </a:prstGeom>
          <a:solidFill>
            <a:srgbClr val="EB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3639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distribution des catégories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3368" y="4078224"/>
            <a:ext cx="50292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Plat_du_jour    6 plats  ███████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      4 plats  █████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        4 plats  █████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         3 plats  ████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          3 plats  ████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         2 plats  ███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complet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 schéma Extract-Transform-Load de bout en bout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chaque étape est tracée et validée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que le pipeline est rejouable depuis les données brutes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ETL de bout en bout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→ Extract → Transform → Load → 1 dataset propre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103120" cy="1005840"/>
          </a:xfrm>
          <a:prstGeom prst="rect">
            <a:avLst>
              <a:gd name="adj" fmla="val 10909"/>
            </a:avLst>
          </a:prstGeom>
          <a:solidFill>
            <a:srgbClr val="3A7E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627632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fichiers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1234440"/>
            <a:ext cx="2103120" cy="1005840"/>
          </a:xfrm>
          <a:prstGeom prst="rect">
            <a:avLst>
              <a:gd name="adj" fmla="val 10909"/>
            </a:avLst>
          </a:prstGeom>
          <a:solidFill>
            <a:srgbClr val="12B8B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52928" y="1627632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pd.read_json()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0" y="1234440"/>
            <a:ext cx="2103120" cy="1005840"/>
          </a:xfrm>
          <a:prstGeom prst="rect">
            <a:avLst>
              <a:gd name="adj" fmla="val 10909"/>
            </a:avLst>
          </a:prstGeom>
          <a:solidFill>
            <a:srgbClr val="8064A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38928" y="1627632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anomalies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15200" y="1234440"/>
            <a:ext cx="2103120" cy="1005840"/>
          </a:xfrm>
          <a:prstGeom prst="rect">
            <a:avLst>
              <a:gd name="adj" fmla="val 10909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24928" y="1627632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devises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1832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601200" y="1234440"/>
            <a:ext cx="2103120" cy="1005840"/>
          </a:xfrm>
          <a:prstGeom prst="rect">
            <a:avLst>
              <a:gd name="adj" fmla="val 10909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2344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10928" y="1627632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codes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2971800"/>
            <a:ext cx="2377440" cy="1005840"/>
          </a:xfrm>
          <a:prstGeom prst="rect">
            <a:avLst>
              <a:gd name="adj" fmla="val 10909"/>
            </a:avLst>
          </a:prstGeom>
          <a:solidFill>
            <a:srgbClr val="16A08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36499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566160" y="2971800"/>
            <a:ext cx="2377440" cy="1005840"/>
          </a:xfrm>
          <a:prstGeom prst="rect">
            <a:avLst>
              <a:gd name="adj" fmla="val 10909"/>
            </a:avLst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75888" y="336499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==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&gt;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217920" y="2971800"/>
            <a:ext cx="2377440" cy="1005840"/>
          </a:xfrm>
          <a:prstGeom prst="rect">
            <a:avLst>
              <a:gd name="adj" fmla="val 10909"/>
            </a:avLst>
          </a:prstGeom>
          <a:solidFill>
            <a:srgbClr val="12B8B0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27648" y="336499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to_csv()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_clean.csv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9536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869680" y="2971800"/>
            <a:ext cx="2377440" cy="1005840"/>
          </a:xfrm>
          <a:prstGeom prst="rect">
            <a:avLst>
              <a:gd name="adj" fmla="val 10909"/>
            </a:avLst>
          </a:prstGeom>
          <a:solidFill>
            <a:srgbClr val="0E1B2A"/>
          </a:solidFill>
          <a:ln/>
        </p:spPr>
      </p:sp>
      <p:sp>
        <p:nvSpPr>
          <p:cNvPr id="39" name="Text 37"/>
          <p:cNvSpPr/>
          <p:nvPr/>
        </p:nvSpPr>
        <p:spPr>
          <a:xfrm>
            <a:off x="8869680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79408" y="3364992"/>
            <a:ext cx="2157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plats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colonnes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ML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457200" y="4251960"/>
            <a:ext cx="11274552" cy="2240280"/>
          </a:xfrm>
          <a:prstGeom prst="rect">
            <a:avLst>
              <a:gd name="adj" fmla="val 4898"/>
            </a:avLst>
          </a:prstGeom>
          <a:solidFill>
            <a:srgbClr val="DCE3EA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4074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011680" y="44074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menu_final_clean.csv  ·  22 plats propres  ·  4 colonnes  ·  0 valeur nulle  ·  Types validés  ·  Prêt pour Random Forest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011680" y="48280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d'exécution &lt; 2 secondes  ·  Pipeline rejouable depuis data/raw/ à tout moment  ·  Tracé dans les logs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5257800"/>
            <a:ext cx="105156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3766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(7)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68880" y="534924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menu_fournisseur.csv  ·  menu_database_export.csv  ·  menu_site_web.json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competitor_prices.csv  ·  sales_history.csv  ·  weather_forecast.json  ·  beverages.csv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flux ETL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étape séparément puis s'assurer que la chaîne complète fonctionne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1. la validation des données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Contrôles qualité avant transformation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nulls, types, plages de valeurs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Contrôles après transformation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aucun null dans df_final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prix float entre 0 et 100 €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catégories dans la liste autorisée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Vérification des volumes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Entrée  : 34 plats bruts (8+15+11)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Supprimés : 12 (anomalies + doublons)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Sortie  : 22 plats propres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Conservation des données brutes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data/raw/ intact et non modifié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4956048"/>
          </a:xfrm>
          <a:prstGeom prst="rect">
            <a:avLst>
              <a:gd name="adj" fmla="val 2214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533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2. la validation du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3368" y="1792224"/>
            <a:ext cx="502920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Rejouabilité confirmée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pipeline relancé depuis data/raw/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résultat identique à chaque exécution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Indépendance des 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chaque source chargée séparément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anomalie isolée par source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Traçabilité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colonne "source" dans df_final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permet d'identifier l'origine de chaque plat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Prêt pour le 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df_final.isnull().sum() ==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types corrects (float64, object)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22 entrées uniques par nom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— avant / après nettoyage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données brutes aux données nettoyées pour montrer la valeur du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nettoyage — menu_database_export.csv (brut)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1945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63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463040"/>
            <a:ext cx="146304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630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463040"/>
            <a:ext cx="9144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4630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price_cents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64008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4630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2880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 Cesar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828800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82880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1828800"/>
            <a:ext cx="914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82880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828800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828800"/>
            <a:ext cx="594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40280"/>
            <a:ext cx="219456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4028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Soupe a l'oignon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51760" y="2240280"/>
            <a:ext cx="146304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24028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2240280"/>
            <a:ext cx="91440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24028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240280"/>
            <a:ext cx="64008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240280"/>
            <a:ext cx="594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65176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65176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Entrecote grillee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51760" y="2651760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97480" y="265176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0" y="2651760"/>
            <a:ext cx="914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265176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2651760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651760"/>
            <a:ext cx="594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063240"/>
            <a:ext cx="219456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06324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ancienne rec.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51760" y="3063240"/>
            <a:ext cx="146304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06324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PDJ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0" y="3063240"/>
            <a:ext cx="91440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306324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3063240"/>
            <a:ext cx="640080" cy="393192"/>
          </a:xfrm>
          <a:prstGeom prst="rect">
            <a:avLst/>
          </a:prstGeom>
          <a:solidFill>
            <a:srgbClr val="FEF9F9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3063240"/>
            <a:ext cx="594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347472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47472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Curry de legumes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51760" y="3474720"/>
            <a:ext cx="14630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97480" y="347472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0" y="3474720"/>
            <a:ext cx="914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0520" y="347472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0" y="3474720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3474720"/>
            <a:ext cx="594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9360" y="11155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 — dataset final (propre)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309360" y="1463040"/>
            <a:ext cx="21945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8" name="Text 56"/>
          <p:cNvSpPr/>
          <p:nvPr/>
        </p:nvSpPr>
        <p:spPr>
          <a:xfrm>
            <a:off x="6355080" y="1463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503920" y="1463040"/>
            <a:ext cx="17373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60" name="Text 58"/>
          <p:cNvSpPr/>
          <p:nvPr/>
        </p:nvSpPr>
        <p:spPr>
          <a:xfrm>
            <a:off x="8549640" y="1463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241280" y="1463040"/>
            <a:ext cx="100584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14630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247120" y="1463040"/>
            <a:ext cx="8229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64" name="Text 62"/>
          <p:cNvSpPr/>
          <p:nvPr/>
        </p:nvSpPr>
        <p:spPr>
          <a:xfrm>
            <a:off x="11292840" y="1463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9360" y="182880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182880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Salade Cesar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503920" y="1828800"/>
            <a:ext cx="1737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49640" y="182880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241280" y="1828800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87000" y="1828800"/>
            <a:ext cx="960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1247120" y="1828800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92840" y="182880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309360" y="2240280"/>
            <a:ext cx="219456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224028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Soupe a l'oignon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503920" y="2240280"/>
            <a:ext cx="173736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49640" y="224028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241280" y="2240280"/>
            <a:ext cx="100584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87000" y="2240280"/>
            <a:ext cx="960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1247120" y="2240280"/>
            <a:ext cx="82296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292840" y="224028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309360" y="265176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55080" y="265176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Entrecote grillee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503920" y="2651760"/>
            <a:ext cx="1737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49640" y="265176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241280" y="2651760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87000" y="2651760"/>
            <a:ext cx="960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1247120" y="2651760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1292840" y="265176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309360" y="3063240"/>
            <a:ext cx="219456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55080" y="306324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Curry de legumes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503920" y="3063240"/>
            <a:ext cx="173736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49640" y="306324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Vegetarien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0241280" y="3063240"/>
            <a:ext cx="100584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87000" y="3063240"/>
            <a:ext cx="960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1247120" y="3063240"/>
            <a:ext cx="822960" cy="393192"/>
          </a:xfrm>
          <a:prstGeom prst="rect">
            <a:avLst/>
          </a:prstGeom>
          <a:solidFill>
            <a:srgbClr val="F0FAF8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292840" y="306324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309360" y="3474720"/>
            <a:ext cx="2194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55080" y="3474720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Tarte tatin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503920" y="3474720"/>
            <a:ext cx="1737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49640" y="347472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0241280" y="3474720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87000" y="3474720"/>
            <a:ext cx="960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1247120" y="3474720"/>
            <a:ext cx="822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E0D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1292840" y="347472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site_web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57200" y="3977640"/>
            <a:ext cx="11274552" cy="2377440"/>
          </a:xfrm>
          <a:prstGeom prst="rect">
            <a:avLst>
              <a:gd name="adj" fmla="val 4615"/>
            </a:avLst>
          </a:prstGeom>
          <a:solidFill>
            <a:srgbClr val="E8F7F6"/>
          </a:solidFill>
          <a:ln/>
        </p:spPr>
      </p:sp>
      <p:sp>
        <p:nvSpPr>
          <p:cNvPr id="106" name="Text 104"/>
          <p:cNvSpPr/>
          <p:nvPr/>
        </p:nvSpPr>
        <p:spPr>
          <a:xfrm>
            <a:off x="640080" y="4114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appliquées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640080" y="455371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item_id + is_active supprimés (inutiles pour le ML)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640080" y="499262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category_code ENT/PDJ/GRL → Entree/Plat_du_jour/Grill (lisible)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640080" y="543153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price_cents 850 → prix 8.5 € (division par 100)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640080" y="58704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source ajoutée pour la traçabilité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/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bilan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qualité du flux complet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indicateurs de performance du pipeline ETL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que le dataset est prêt pour le Machine Learning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chiffrés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du pipeline ETL — Le Bon Plat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66928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collectées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51376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151376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261104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 dans le dataset final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45552" y="1234440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845552" y="1307592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955280" y="2130186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standardisées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66928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nulles restantes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8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261104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d'exécution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45552" y="2843784"/>
            <a:ext cx="3520440" cy="1444752"/>
          </a:xfrm>
          <a:prstGeom prst="rect">
            <a:avLst>
              <a:gd name="adj" fmla="val 7595"/>
            </a:avLst>
          </a:prstGeom>
          <a:solidFill>
            <a:srgbClr val="EB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2916936"/>
            <a:ext cx="3520440" cy="837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34→22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955280" y="3739530"/>
            <a:ext cx="3300984" cy="505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 bruts → propres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11274552" cy="2176272"/>
          </a:xfrm>
          <a:prstGeom prst="rect">
            <a:avLst>
              <a:gd name="adj" fmla="val 5042"/>
            </a:avLst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902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qualité du dataset final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Complétude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50292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— aucun champ obligatoire manquant (nom, categorie, prix, source)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367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Cohérence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536752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catégories standardisées — même vocabulaire dans toutes les sources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7058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Exactitude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570585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vérifiés et convertis (€) — plage 6 € à 24 €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0441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Traçabilité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6044184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source présente — origine de chaque plat identifiable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Unicité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638251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doublon — 22 plats distincts vérifiés par nom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finale — dataset prêt pour le 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final répond aux exigences du modèle Random Forest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4956048"/>
          </a:xfrm>
          <a:prstGeom prst="rect">
            <a:avLst>
              <a:gd name="adj" fmla="val 2214"/>
            </a:avLst>
          </a:prstGeom>
          <a:solidFill>
            <a:srgbClr val="DCE3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exigences du modèle 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493776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Random Forest attend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valeurs nulles → ✓ 0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 numériques pour le prix → ✓ float64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catégorielles encodées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catégorie disponible pour OneHotEncoder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Colonne cible disponible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intégration avec sales_history.csv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doublons → ✓ 22 entrées uniques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traçable pour débogage → ✓ colonne source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170432"/>
            <a:ext cx="5486400" cy="4956048"/>
          </a:xfrm>
          <a:prstGeom prst="rect">
            <a:avLst>
              <a:gd name="adj" fmla="val 1476"/>
            </a:avLst>
          </a:prstGeom>
          <a:solidFill>
            <a:srgbClr val="F4F6F9"/>
          </a:solidFill>
          <a:ln w="12700">
            <a:solidFill>
              <a:srgbClr val="D0D7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280160"/>
            <a:ext cx="512064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Vérification finale avant intégration 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"data/processed/menu_final_clean.csv")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# (22, 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print(df.dtypes)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nom        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categorie  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prix        float64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source      object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nom         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categorie   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prix        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source      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print(df["categorie"].unique())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["Entree", "Plat_du_jour", "Grill",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"Vegetarien", "Dessert", "Enfant"]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print(df["prix"].describe())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    6.0  mean  12.4  max  24.0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Résumer : un socle data complet, contrôlé et prêt à être consommé par le modèle ML.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: un socle data complet, contrôlé et prêt à être consommé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70632" cy="5303520"/>
          </a:xfrm>
          <a:prstGeom prst="rect">
            <a:avLst>
              <a:gd name="adj" fmla="val 3960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2770632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44752"/>
            <a:ext cx="2770632" cy="219456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2770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404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hétérogènes (CSV, JSON) sont acquises par des scripts dédiés et reproductibles depuis data/raw/.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10712" y="1188720"/>
            <a:ext cx="2770632" cy="5303520"/>
          </a:xfrm>
          <a:prstGeom prst="rect">
            <a:avLst>
              <a:gd name="adj" fmla="val 3960"/>
            </a:avLst>
          </a:prstGeom>
          <a:solidFill>
            <a:srgbClr val="EB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0712" y="1188720"/>
            <a:ext cx="2770632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1444752"/>
            <a:ext cx="2770632" cy="219456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1188720"/>
            <a:ext cx="2770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93592" y="1783080"/>
            <a:ext cx="2404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contrôlées, nettoyées, standardisées et consolidées sans perdre la donnée brute ni la traçabilité.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4224" y="1188720"/>
            <a:ext cx="2770632" cy="5303520"/>
          </a:xfrm>
          <a:prstGeom prst="rect">
            <a:avLst>
              <a:gd name="adj" fmla="val 3960"/>
            </a:avLst>
          </a:prstGeom>
          <a:solidFill>
            <a:srgbClr val="E8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4224" y="1188720"/>
            <a:ext cx="2770632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4224" y="1444752"/>
            <a:ext cx="2770632" cy="219456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0" name="Text 18"/>
          <p:cNvSpPr/>
          <p:nvPr/>
        </p:nvSpPr>
        <p:spPr>
          <a:xfrm>
            <a:off x="6364224" y="1188720"/>
            <a:ext cx="2770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1783080"/>
            <a:ext cx="2404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data/raw/ → data/processed/ garantit la reproductibilité et la séparation des responsabilités.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17736" y="1188720"/>
            <a:ext cx="2770632" cy="5303520"/>
          </a:xfrm>
          <a:prstGeom prst="rect">
            <a:avLst>
              <a:gd name="adj" fmla="val 3960"/>
            </a:avLst>
          </a:prstGeom>
          <a:solidFill>
            <a:srgbClr val="EB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317736" y="1188720"/>
            <a:ext cx="2770632" cy="475488"/>
          </a:xfrm>
          <a:prstGeom prst="rect">
            <a:avLst>
              <a:gd name="adj" fmla="val 23077"/>
            </a:avLst>
          </a:prstGeom>
          <a:solidFill>
            <a:srgbClr val="12B8B0"/>
          </a:solidFill>
          <a:ln/>
        </p:spPr>
      </p:sp>
      <p:sp>
        <p:nvSpPr>
          <p:cNvPr id="24" name="Shape 22"/>
          <p:cNvSpPr/>
          <p:nvPr/>
        </p:nvSpPr>
        <p:spPr>
          <a:xfrm>
            <a:off x="9317736" y="1444752"/>
            <a:ext cx="2770632" cy="219456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5" name="Text 23"/>
          <p:cNvSpPr/>
          <p:nvPr/>
        </p:nvSpPr>
        <p:spPr>
          <a:xfrm>
            <a:off x="9317736" y="1188720"/>
            <a:ext cx="2770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00616" y="1783080"/>
            <a:ext cx="24048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final menu_final_clean.csv — 22 plats, 4 colonnes, 0 null — est directement consommable par le modèle Random Forest.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2026-09-07T11:58:08Z</dcterms:created>
  <dcterms:modified xsi:type="dcterms:W3CDTF">2026-09-07T11:58:08Z</dcterms:modified>
</cp:coreProperties>
</file>