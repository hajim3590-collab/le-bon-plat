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4747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6  ·  10 MIN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CI/CD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1847088"/>
            <a:ext cx="10058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· Tests automatisés · Docker · Déploiement continu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2487168"/>
            <a:ext cx="3200400" cy="45720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65176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Bon Plat — Assurer la qualité et la disponibilité de l'application en production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1546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  |  Certification Développeur en Intelligence Artificielle  |  2025–2026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4114800"/>
            <a:ext cx="2468880" cy="1645920"/>
          </a:xfrm>
          <a:prstGeom prst="rect">
            <a:avLst>
              <a:gd name="adj" fmla="val 6667"/>
            </a:avLst>
          </a:prstGeom>
          <a:solidFill>
            <a:srgbClr val="E8F7F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22452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7200" y="482803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52120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0" y="4114800"/>
            <a:ext cx="2468880" cy="1645920"/>
          </a:xfrm>
          <a:prstGeom prst="rect">
            <a:avLst>
              <a:gd name="adj" fmla="val 6667"/>
            </a:avLst>
          </a:prstGeom>
          <a:solidFill>
            <a:srgbClr val="E8F7F6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0" y="422452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200400" y="482803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00400" y="52120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0" y="4114800"/>
            <a:ext cx="2468880" cy="1645920"/>
          </a:xfrm>
          <a:prstGeom prst="rect">
            <a:avLst>
              <a:gd name="adj" fmla="val 6667"/>
            </a:avLst>
          </a:prstGeom>
          <a:solidFill>
            <a:srgbClr val="E8F7F6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0" y="422452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943600" y="482803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43600" y="52120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685800"/>
            <a:ext cx="2560320" cy="64008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2296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/ 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1127455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&amp; Monitoring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3657600" cy="54864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017520"/>
            <a:ext cx="10972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Enregistrer chaque événement de l'application dans un fichier log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493008"/>
            <a:ext cx="10972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Suivre les requêtes, erreurs et démarrages en temps réel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968496"/>
            <a:ext cx="10972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Conserver l'historique — un fichier par jour dans logs/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applicatifs — comment ça marche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événement est enregistré avec date, heure et niveau de gravité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6400800" cy="5230368"/>
          </a:xfrm>
          <a:prstGeom prst="rect">
            <a:avLst>
              <a:gd name="adj" fmla="val 1399"/>
            </a:avLst>
          </a:prstGeom>
          <a:solidFill>
            <a:srgbClr val="F4F6F9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280160"/>
            <a:ext cx="6035040" cy="5010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─── 1. Configuration du logger ───────────────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logging, os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datetime import datetime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log_dir = "logs"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os.makedirs(log_dir, exist_ok=True)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log_file = os.path.join(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log_dir,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f"app_{datetime.now().strftime('%Y%m%d')}.log"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logging.basicConfig(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level=logging.INFO,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format="%(asctime)s - %(levelname)s"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" - %(message)s",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handlers=[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logging.FileHandler(log_file),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logging.StreamHandler()  # console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logger = logging.getLogger(__name__)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─── 2. Utilisation dans l'API ──────────────────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@app.route('/predict', methods=['POST'])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predict():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logger.info("POST /predict reçu")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data = request.get_json()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logger.info(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f"Paramètres : temp={data['temperature_c']}")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 = ml.predict(...)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logger.info(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f"Prédiction : {result['category']}")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jsonify(result), 200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except Exception as e: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logger.error(f"Erreur predict : {e}")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jsonify({"erreur": str(e)}), 500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─── 3. Exemple de log généré ───────────────────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logs/app_20260908.log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2026-09-08 14:15:15 - INFO - APP DEMARREE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2026-09-08 14:15:22 - INFO - POST /predict reçu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2026-09-08 14:15:22 - INFO - Prédiction : Grill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2026-09-08 14:15:45 - ERROR - Erreur predict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022592" y="1170432"/>
            <a:ext cx="4846320" cy="5230368"/>
          </a:xfrm>
          <a:prstGeom prst="rect">
            <a:avLst>
              <a:gd name="adj" fmla="val 2264"/>
            </a:avLst>
          </a:prstGeom>
          <a:solidFill>
            <a:srgbClr val="E8F7F6"/>
          </a:solidFill>
          <a:ln/>
        </p:spPr>
      </p:sp>
      <p:sp>
        <p:nvSpPr>
          <p:cNvPr id="10" name="Shape 8"/>
          <p:cNvSpPr/>
          <p:nvPr/>
        </p:nvSpPr>
        <p:spPr>
          <a:xfrm>
            <a:off x="7022592" y="1170432"/>
            <a:ext cx="4846320" cy="420624"/>
          </a:xfrm>
          <a:prstGeom prst="rect">
            <a:avLst>
              <a:gd name="adj" fmla="val 26087"/>
            </a:avLst>
          </a:prstGeom>
          <a:solidFill>
            <a:srgbClr val="12B8B0"/>
          </a:solidFill>
          <a:ln/>
        </p:spPr>
      </p:sp>
      <p:sp>
        <p:nvSpPr>
          <p:cNvPr id="11" name="Shape 9"/>
          <p:cNvSpPr/>
          <p:nvPr/>
        </p:nvSpPr>
        <p:spPr>
          <a:xfrm>
            <a:off x="7022592" y="1444752"/>
            <a:ext cx="4846320" cy="146304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12" name="Text 10"/>
          <p:cNvSpPr/>
          <p:nvPr/>
        </p:nvSpPr>
        <p:spPr>
          <a:xfrm>
            <a:off x="7159752" y="1170432"/>
            <a:ext cx="4572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des 3 parties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159752" y="1773936"/>
            <a:ext cx="292608" cy="292608"/>
          </a:xfrm>
          <a:prstGeom prst="rect">
            <a:avLst>
              <a:gd name="adj" fmla="val 50000"/>
            </a:avLst>
          </a:prstGeom>
          <a:solidFill>
            <a:srgbClr val="12B8B0"/>
          </a:solidFill>
          <a:ln/>
        </p:spPr>
      </p:sp>
      <p:sp>
        <p:nvSpPr>
          <p:cNvPr id="14" name="Text 12"/>
          <p:cNvSpPr/>
          <p:nvPr/>
        </p:nvSpPr>
        <p:spPr>
          <a:xfrm>
            <a:off x="7159752" y="17739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543800" y="1719072"/>
            <a:ext cx="41879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543800" y="2048256"/>
            <a:ext cx="4187952" cy="1176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logging.basicConfig() configure le format et les destinations.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handlers : fichier log + console en simultané.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du fichier = date du jour → 1 fichier par jour.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159752" y="3334512"/>
            <a:ext cx="292608" cy="292608"/>
          </a:xfrm>
          <a:prstGeom prst="rect">
            <a:avLst>
              <a:gd name="adj" fmla="val 50000"/>
            </a:avLst>
          </a:prstGeom>
          <a:solidFill>
            <a:srgbClr val="12B8B0"/>
          </a:solidFill>
          <a:ln/>
        </p:spPr>
      </p:sp>
      <p:sp>
        <p:nvSpPr>
          <p:cNvPr id="18" name="Text 16"/>
          <p:cNvSpPr/>
          <p:nvPr/>
        </p:nvSpPr>
        <p:spPr>
          <a:xfrm>
            <a:off x="7159752" y="33345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543800" y="3279648"/>
            <a:ext cx="41879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543800" y="3608832"/>
            <a:ext cx="4187952" cy="1176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logger.info() enregistre les événements normaux.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logger.error() enregistre les erreurs.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requête est tracée : entrée + résultat.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159752" y="4895088"/>
            <a:ext cx="292608" cy="292608"/>
          </a:xfrm>
          <a:prstGeom prst="rect">
            <a:avLst>
              <a:gd name="adj" fmla="val 50000"/>
            </a:avLst>
          </a:prstGeom>
          <a:solidFill>
            <a:srgbClr val="12B8B0"/>
          </a:solidFill>
          <a:ln/>
        </p:spPr>
      </p:sp>
      <p:sp>
        <p:nvSpPr>
          <p:cNvPr id="22" name="Text 20"/>
          <p:cNvSpPr/>
          <p:nvPr/>
        </p:nvSpPr>
        <p:spPr>
          <a:xfrm>
            <a:off x="7159752" y="48950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543800" y="4840224"/>
            <a:ext cx="41879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généré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543800" y="5169408"/>
            <a:ext cx="4187952" cy="1176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fichier logs/app_20260908.log existe dans le projet.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voit l'heure exacte de chaque événement.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= normal · ERROR = problème à investiguer.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685800"/>
            <a:ext cx="2560320" cy="64008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2296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/ 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1127455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CI/CD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3657600" cy="54864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017520"/>
            <a:ext cx="10972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CI (Intégration Continue) : lancer les tests automatiquement à chaque push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493008"/>
            <a:ext cx="10972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CD (Déploiement Continu) : construire l'image Docker et déployer sur Render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968496"/>
            <a:ext cx="10972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Zéro intervention manuelle — GitHub Actions orchestre tout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— Pipeline de tests automatisés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.github/workflows/tests.yml — déclenché à chaque push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6400800" cy="5230368"/>
          </a:xfrm>
          <a:prstGeom prst="rect">
            <a:avLst>
              <a:gd name="adj" fmla="val 1399"/>
            </a:avLst>
          </a:prstGeom>
          <a:solidFill>
            <a:srgbClr val="F4F6F9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280160"/>
            <a:ext cx="6035040" cy="5010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.github/workflows/tests.yml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─── 1. Déclencheur ────────────────────────────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Tests CI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push: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branches: [main, develop]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pull_request: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branches: [main]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test: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runs-on: ubuntu-latest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steps: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# ─── 2. Récupérer le code ───────────────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actions/checkout@v4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# ─── 3. Installer Python 3.13 ───────────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name: Set up Python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uses: actions/setup-python@v4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python-version: '3.13'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# ─── 4. Installer les dépendances ───────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name: Install dependencies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run: |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python -m pip install --upgrade pip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pip install -r requirements.txt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# ─── 5. Lancer pytest ───────────────────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name: Run tests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run: pytest -v --tb=short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# ─── 6. Rapport de couverture ───────────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name: Coverage report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run: pytest --cov=backend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--cov-report=term-missing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022592" y="1170432"/>
            <a:ext cx="4846320" cy="5230368"/>
          </a:xfrm>
          <a:prstGeom prst="rect">
            <a:avLst>
              <a:gd name="adj" fmla="val 2264"/>
            </a:avLst>
          </a:prstGeom>
          <a:solidFill>
            <a:srgbClr val="E8F7F6"/>
          </a:solidFill>
          <a:ln/>
        </p:spPr>
      </p:sp>
      <p:sp>
        <p:nvSpPr>
          <p:cNvPr id="10" name="Shape 8"/>
          <p:cNvSpPr/>
          <p:nvPr/>
        </p:nvSpPr>
        <p:spPr>
          <a:xfrm>
            <a:off x="7022592" y="1170432"/>
            <a:ext cx="4846320" cy="420624"/>
          </a:xfrm>
          <a:prstGeom prst="rect">
            <a:avLst>
              <a:gd name="adj" fmla="val 26087"/>
            </a:avLst>
          </a:prstGeom>
          <a:solidFill>
            <a:srgbClr val="3A7EFF"/>
          </a:solidFill>
          <a:ln/>
        </p:spPr>
      </p:sp>
      <p:sp>
        <p:nvSpPr>
          <p:cNvPr id="11" name="Shape 9"/>
          <p:cNvSpPr/>
          <p:nvPr/>
        </p:nvSpPr>
        <p:spPr>
          <a:xfrm>
            <a:off x="7022592" y="1444752"/>
            <a:ext cx="4846320" cy="146304"/>
          </a:xfrm>
          <a:prstGeom prst="rect">
            <a:avLst/>
          </a:prstGeom>
          <a:solidFill>
            <a:srgbClr val="3A7EFF"/>
          </a:solidFill>
          <a:ln/>
        </p:spPr>
      </p:sp>
      <p:sp>
        <p:nvSpPr>
          <p:cNvPr id="12" name="Text 10"/>
          <p:cNvSpPr/>
          <p:nvPr/>
        </p:nvSpPr>
        <p:spPr>
          <a:xfrm>
            <a:off x="7159752" y="1170432"/>
            <a:ext cx="4572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des 6 étapes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159752" y="1773936"/>
            <a:ext cx="292608" cy="292608"/>
          </a:xfrm>
          <a:prstGeom prst="rect">
            <a:avLst>
              <a:gd name="adj" fmla="val 50000"/>
            </a:avLst>
          </a:prstGeom>
          <a:solidFill>
            <a:srgbClr val="3A7EFF"/>
          </a:solidFill>
          <a:ln/>
        </p:spPr>
      </p:sp>
      <p:sp>
        <p:nvSpPr>
          <p:cNvPr id="14" name="Text 12"/>
          <p:cNvSpPr/>
          <p:nvPr/>
        </p:nvSpPr>
        <p:spPr>
          <a:xfrm>
            <a:off x="7159752" y="17739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543800" y="1719072"/>
            <a:ext cx="41879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Déclencheur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543800" y="2048256"/>
            <a:ext cx="4187952" cy="39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pipeline se lance automatiquement à chaque push sur main ou develop, et sur chaque Pull Request.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159752" y="2554224"/>
            <a:ext cx="292608" cy="292608"/>
          </a:xfrm>
          <a:prstGeom prst="rect">
            <a:avLst>
              <a:gd name="adj" fmla="val 50000"/>
            </a:avLst>
          </a:prstGeom>
          <a:solidFill>
            <a:srgbClr val="3A7EFF"/>
          </a:solidFill>
          <a:ln/>
        </p:spPr>
      </p:sp>
      <p:sp>
        <p:nvSpPr>
          <p:cNvPr id="18" name="Text 16"/>
          <p:cNvSpPr/>
          <p:nvPr/>
        </p:nvSpPr>
        <p:spPr>
          <a:xfrm>
            <a:off x="7159752" y="255422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543800" y="2499360"/>
            <a:ext cx="41879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543800" y="2828544"/>
            <a:ext cx="4187952" cy="39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télécharge le code du dépôt sur la machine virtuelle ubuntu.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159752" y="3334512"/>
            <a:ext cx="292608" cy="292608"/>
          </a:xfrm>
          <a:prstGeom prst="rect">
            <a:avLst>
              <a:gd name="adj" fmla="val 50000"/>
            </a:avLst>
          </a:prstGeom>
          <a:solidFill>
            <a:srgbClr val="3A7EFF"/>
          </a:solidFill>
          <a:ln/>
        </p:spPr>
      </p:sp>
      <p:sp>
        <p:nvSpPr>
          <p:cNvPr id="22" name="Text 20"/>
          <p:cNvSpPr/>
          <p:nvPr/>
        </p:nvSpPr>
        <p:spPr>
          <a:xfrm>
            <a:off x="7159752" y="33345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543800" y="3279648"/>
            <a:ext cx="41879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543800" y="3608832"/>
            <a:ext cx="4187952" cy="39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 exactement la même version Python que le projet en local.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159752" y="4114800"/>
            <a:ext cx="292608" cy="292608"/>
          </a:xfrm>
          <a:prstGeom prst="rect">
            <a:avLst>
              <a:gd name="adj" fmla="val 50000"/>
            </a:avLst>
          </a:prstGeom>
          <a:solidFill>
            <a:srgbClr val="3A7EFF"/>
          </a:solidFill>
          <a:ln/>
        </p:spPr>
      </p:sp>
      <p:sp>
        <p:nvSpPr>
          <p:cNvPr id="26" name="Text 24"/>
          <p:cNvSpPr/>
          <p:nvPr/>
        </p:nvSpPr>
        <p:spPr>
          <a:xfrm>
            <a:off x="7159752" y="4114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543800" y="4059936"/>
            <a:ext cx="41879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Dépendances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543800" y="4389120"/>
            <a:ext cx="4187952" cy="39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-r requirements.txt installe Flask, scikit-learn, pytest, etc.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159752" y="4895088"/>
            <a:ext cx="292608" cy="292608"/>
          </a:xfrm>
          <a:prstGeom prst="rect">
            <a:avLst>
              <a:gd name="adj" fmla="val 50000"/>
            </a:avLst>
          </a:prstGeom>
          <a:solidFill>
            <a:srgbClr val="3A7EFF"/>
          </a:solidFill>
          <a:ln/>
        </p:spPr>
      </p:sp>
      <p:sp>
        <p:nvSpPr>
          <p:cNvPr id="30" name="Text 28"/>
          <p:cNvSpPr/>
          <p:nvPr/>
        </p:nvSpPr>
        <p:spPr>
          <a:xfrm>
            <a:off x="7159752" y="48950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543800" y="4840224"/>
            <a:ext cx="41879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543800" y="5169408"/>
            <a:ext cx="4187952" cy="39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 les 22 tests. Si 1 test échoue → le pipeline s'arrête → le merge est bloqué.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159752" y="5675376"/>
            <a:ext cx="292608" cy="292608"/>
          </a:xfrm>
          <a:prstGeom prst="rect">
            <a:avLst>
              <a:gd name="adj" fmla="val 50000"/>
            </a:avLst>
          </a:prstGeom>
          <a:solidFill>
            <a:srgbClr val="3A7EFF"/>
          </a:solidFill>
          <a:ln/>
        </p:spPr>
      </p:sp>
      <p:sp>
        <p:nvSpPr>
          <p:cNvPr id="34" name="Text 32"/>
          <p:cNvSpPr/>
          <p:nvPr/>
        </p:nvSpPr>
        <p:spPr>
          <a:xfrm>
            <a:off x="7159752" y="56753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543800" y="5620512"/>
            <a:ext cx="41879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Couverture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543800" y="5949696"/>
            <a:ext cx="4187952" cy="39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 quelles lignes de code sont couvertes par les tests (%).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— Pipeline de déploiement automatique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.github/workflows/deploy.yml — push sur main → déploiement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6400800" cy="5230368"/>
          </a:xfrm>
          <a:prstGeom prst="rect">
            <a:avLst>
              <a:gd name="adj" fmla="val 1399"/>
            </a:avLst>
          </a:prstGeom>
          <a:solidFill>
            <a:srgbClr val="F4F6F9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280160"/>
            <a:ext cx="6035040" cy="5010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.github/workflows/deploy.yml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─── 1. Déclencheur ────────────────────────────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Build &amp; Deploy CD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push: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branches: [main]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jobs: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─── 2. Tests avant déploiement ────────────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test: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runs-on: ubuntu-latest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actions/checkout@v4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actions/setup-python@v4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with: {python-version: '3.13'}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run: pip install -r requirements.txt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run: pytest -v --tb=short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─── 3. Construire l'image Docker ───────────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build-and-push: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needs: test  # attend que tests passent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runs-on: ubuntu-latest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actions/checkout@v4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name: Login Docker Hub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uses: docker/login-action@v3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username: ${{ secrets.DOCKER_USERNAME }}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password: ${{ secrets.DOCKER_PASSWORD }}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name: Build &amp; Push image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uses: docker/build-push-action@v5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push: true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tags: username/le-bon-plat:latest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─── 4. Déclencher Render ───────────────────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notify-render: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needs: build-and-push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run: |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curl --request POST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--url ${{ secrets.RENDER_DEPLOY_HOOK }}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022592" y="1170432"/>
            <a:ext cx="4846320" cy="5230368"/>
          </a:xfrm>
          <a:prstGeom prst="rect">
            <a:avLst>
              <a:gd name="adj" fmla="val 2264"/>
            </a:avLst>
          </a:prstGeom>
          <a:solidFill>
            <a:srgbClr val="E8F7F6"/>
          </a:solidFill>
          <a:ln/>
        </p:spPr>
      </p:sp>
      <p:sp>
        <p:nvSpPr>
          <p:cNvPr id="10" name="Shape 8"/>
          <p:cNvSpPr/>
          <p:nvPr/>
        </p:nvSpPr>
        <p:spPr>
          <a:xfrm>
            <a:off x="7022592" y="1170432"/>
            <a:ext cx="4846320" cy="420624"/>
          </a:xfrm>
          <a:prstGeom prst="rect">
            <a:avLst>
              <a:gd name="adj" fmla="val 26087"/>
            </a:avLst>
          </a:prstGeom>
          <a:solidFill>
            <a:srgbClr val="E67E22"/>
          </a:solidFill>
          <a:ln/>
        </p:spPr>
      </p:sp>
      <p:sp>
        <p:nvSpPr>
          <p:cNvPr id="11" name="Shape 9"/>
          <p:cNvSpPr/>
          <p:nvPr/>
        </p:nvSpPr>
        <p:spPr>
          <a:xfrm>
            <a:off x="7022592" y="1444752"/>
            <a:ext cx="4846320" cy="14630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2" name="Text 10"/>
          <p:cNvSpPr/>
          <p:nvPr/>
        </p:nvSpPr>
        <p:spPr>
          <a:xfrm>
            <a:off x="7159752" y="1170432"/>
            <a:ext cx="4572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4 étapes du CD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159752" y="1773936"/>
            <a:ext cx="292608" cy="292608"/>
          </a:xfrm>
          <a:prstGeom prst="rect">
            <a:avLst>
              <a:gd name="adj" fmla="val 50000"/>
            </a:avLst>
          </a:prstGeom>
          <a:solidFill>
            <a:srgbClr val="E67E22"/>
          </a:solidFill>
          <a:ln/>
        </p:spPr>
      </p:sp>
      <p:sp>
        <p:nvSpPr>
          <p:cNvPr id="14" name="Text 12"/>
          <p:cNvSpPr/>
          <p:nvPr/>
        </p:nvSpPr>
        <p:spPr>
          <a:xfrm>
            <a:off x="7159752" y="17739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543800" y="1719072"/>
            <a:ext cx="41879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Déclencheur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543800" y="2048256"/>
            <a:ext cx="4187952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Uniquement sur push vers main (branche de production). Un push sur develop ne déclenche que le CI.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159752" y="2944368"/>
            <a:ext cx="292608" cy="292608"/>
          </a:xfrm>
          <a:prstGeom prst="rect">
            <a:avLst>
              <a:gd name="adj" fmla="val 50000"/>
            </a:avLst>
          </a:prstGeom>
          <a:solidFill>
            <a:srgbClr val="E67E22"/>
          </a:solidFill>
          <a:ln/>
        </p:spPr>
      </p:sp>
      <p:sp>
        <p:nvSpPr>
          <p:cNvPr id="18" name="Text 16"/>
          <p:cNvSpPr/>
          <p:nvPr/>
        </p:nvSpPr>
        <p:spPr>
          <a:xfrm>
            <a:off x="7159752" y="29443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543800" y="2889504"/>
            <a:ext cx="41879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d'abord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543800" y="3218688"/>
            <a:ext cx="4187952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 test → le déploiement ne commence que si les 22 tests passent. Sécurité obligatoire.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159752" y="4114800"/>
            <a:ext cx="292608" cy="292608"/>
          </a:xfrm>
          <a:prstGeom prst="rect">
            <a:avLst>
              <a:gd name="adj" fmla="val 50000"/>
            </a:avLst>
          </a:prstGeom>
          <a:solidFill>
            <a:srgbClr val="E67E22"/>
          </a:solidFill>
          <a:ln/>
        </p:spPr>
      </p:sp>
      <p:sp>
        <p:nvSpPr>
          <p:cNvPr id="22" name="Text 20"/>
          <p:cNvSpPr/>
          <p:nvPr/>
        </p:nvSpPr>
        <p:spPr>
          <a:xfrm>
            <a:off x="7159752" y="4114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543800" y="4059936"/>
            <a:ext cx="41879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543800" y="4389120"/>
            <a:ext cx="4187952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Construit l'image Docker depuis le Dockerfile et la pousse sur Docker Hub. Secrets stockés dans GitHub Settings.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159752" y="5285232"/>
            <a:ext cx="292608" cy="292608"/>
          </a:xfrm>
          <a:prstGeom prst="rect">
            <a:avLst>
              <a:gd name="adj" fmla="val 50000"/>
            </a:avLst>
          </a:prstGeom>
          <a:solidFill>
            <a:srgbClr val="E67E22"/>
          </a:solidFill>
          <a:ln/>
        </p:spPr>
      </p:sp>
      <p:sp>
        <p:nvSpPr>
          <p:cNvPr id="26" name="Text 24"/>
          <p:cNvSpPr/>
          <p:nvPr/>
        </p:nvSpPr>
        <p:spPr>
          <a:xfrm>
            <a:off x="7159752" y="52852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543800" y="5230368"/>
            <a:ext cx="41879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Deploy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543800" y="5559552"/>
            <a:ext cx="4187952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envoie une requête POST au webhook Render → Render tire la nouvelle image Docker et redémarre le service.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685800"/>
            <a:ext cx="2560320" cy="64008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2296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 / 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1127455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&amp; Déploiement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3657600" cy="54864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017520"/>
            <a:ext cx="10972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Containeriser l'application Flask dans une image Docker reproductible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493008"/>
            <a:ext cx="10972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Déployer sur Render — plateforme cloud gratuite compatible Docker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968496"/>
            <a:ext cx="10972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Pipeline complet : push git → tests → image → déploiement automatique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— containeriser l'application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instructions pour créer une image portable et reproductible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6400800" cy="5230368"/>
          </a:xfrm>
          <a:prstGeom prst="rect">
            <a:avLst>
              <a:gd name="adj" fmla="val 1399"/>
            </a:avLst>
          </a:prstGeom>
          <a:solidFill>
            <a:srgbClr val="F4F6F9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280160"/>
            <a:ext cx="6035040" cy="5010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Dockerfile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─── 1. Image de base ──────────────────────────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python:3.13-slim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python:3.13-slim = Python 3.13 léger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(sans les outils inutiles en production)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─── 2. Dossier de travail ──────────────────────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WORKDIR /app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Tous les fichiers copiés iront dans /app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─── 3. Installer les dépendances ───────────────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requirements.txt 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pip install --no-cache-dir -r requirements.txt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--no-cache-dir → image plus légère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─── 4. Copier le code source ───────────────────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. 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Copie tout le projet dans /app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─── 5. Exposer le port ─────────────────────────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EXPOSE 5000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Déclare que l'app écoute sur le port 5000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─── 6. Variables d'environnement ───────────────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 FLASK_APP=backend/app.py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 FLASK_ENV=production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─── 7. Commande de démarrage ───────────────────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 ["python", "-m", "flask", "run",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"--host=0.0.0.0"]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--host=0.0.0.0 = accessible depuis l'extérieur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du conteneur Docker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022592" y="1170432"/>
            <a:ext cx="4846320" cy="5230368"/>
          </a:xfrm>
          <a:prstGeom prst="rect">
            <a:avLst>
              <a:gd name="adj" fmla="val 2264"/>
            </a:avLst>
          </a:prstGeom>
          <a:solidFill>
            <a:srgbClr val="E8F7F6"/>
          </a:solidFill>
          <a:ln/>
        </p:spPr>
      </p:sp>
      <p:sp>
        <p:nvSpPr>
          <p:cNvPr id="10" name="Shape 8"/>
          <p:cNvSpPr/>
          <p:nvPr/>
        </p:nvSpPr>
        <p:spPr>
          <a:xfrm>
            <a:off x="7022592" y="1170432"/>
            <a:ext cx="4846320" cy="420624"/>
          </a:xfrm>
          <a:prstGeom prst="rect">
            <a:avLst>
              <a:gd name="adj" fmla="val 26087"/>
            </a:avLst>
          </a:prstGeom>
          <a:solidFill>
            <a:srgbClr val="8064A2"/>
          </a:solidFill>
          <a:ln/>
        </p:spPr>
      </p:sp>
      <p:sp>
        <p:nvSpPr>
          <p:cNvPr id="11" name="Shape 9"/>
          <p:cNvSpPr/>
          <p:nvPr/>
        </p:nvSpPr>
        <p:spPr>
          <a:xfrm>
            <a:off x="7022592" y="1444752"/>
            <a:ext cx="4846320" cy="146304"/>
          </a:xfrm>
          <a:prstGeom prst="rect">
            <a:avLst/>
          </a:prstGeom>
          <a:solidFill>
            <a:srgbClr val="8064A2"/>
          </a:solidFill>
          <a:ln/>
        </p:spPr>
      </p:sp>
      <p:sp>
        <p:nvSpPr>
          <p:cNvPr id="12" name="Text 10"/>
          <p:cNvSpPr/>
          <p:nvPr/>
        </p:nvSpPr>
        <p:spPr>
          <a:xfrm>
            <a:off x="7159752" y="1170432"/>
            <a:ext cx="4572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des 7 instructions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159752" y="1773936"/>
            <a:ext cx="292608" cy="292608"/>
          </a:xfrm>
          <a:prstGeom prst="rect">
            <a:avLst>
              <a:gd name="adj" fmla="val 50000"/>
            </a:avLst>
          </a:prstGeom>
          <a:solidFill>
            <a:srgbClr val="8064A2"/>
          </a:solidFill>
          <a:ln/>
        </p:spPr>
      </p:sp>
      <p:sp>
        <p:nvSpPr>
          <p:cNvPr id="14" name="Text 12"/>
          <p:cNvSpPr/>
          <p:nvPr/>
        </p:nvSpPr>
        <p:spPr>
          <a:xfrm>
            <a:off x="7159752" y="17739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543800" y="1719072"/>
            <a:ext cx="41879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543800" y="2048256"/>
            <a:ext cx="4187952" cy="39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de base = Python 3.13 slim. "slim" = version minimale sans outils inutiles → image 2× plus légère.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159752" y="2554224"/>
            <a:ext cx="292608" cy="292608"/>
          </a:xfrm>
          <a:prstGeom prst="rect">
            <a:avLst>
              <a:gd name="adj" fmla="val 50000"/>
            </a:avLst>
          </a:prstGeom>
          <a:solidFill>
            <a:srgbClr val="8064A2"/>
          </a:solidFill>
          <a:ln/>
        </p:spPr>
      </p:sp>
      <p:sp>
        <p:nvSpPr>
          <p:cNvPr id="18" name="Text 16"/>
          <p:cNvSpPr/>
          <p:nvPr/>
        </p:nvSpPr>
        <p:spPr>
          <a:xfrm>
            <a:off x="7159752" y="255422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543800" y="2499360"/>
            <a:ext cx="41879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WORKDIR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543800" y="2828544"/>
            <a:ext cx="4187952" cy="39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 /app comme dossier courant dans le conteneur. Toutes les commandes suivantes s'exécutent là.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159752" y="3334512"/>
            <a:ext cx="292608" cy="292608"/>
          </a:xfrm>
          <a:prstGeom prst="rect">
            <a:avLst>
              <a:gd name="adj" fmla="val 50000"/>
            </a:avLst>
          </a:prstGeom>
          <a:solidFill>
            <a:srgbClr val="8064A2"/>
          </a:solidFill>
          <a:ln/>
        </p:spPr>
      </p:sp>
      <p:sp>
        <p:nvSpPr>
          <p:cNvPr id="22" name="Text 20"/>
          <p:cNvSpPr/>
          <p:nvPr/>
        </p:nvSpPr>
        <p:spPr>
          <a:xfrm>
            <a:off x="7159752" y="33345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543800" y="3279648"/>
            <a:ext cx="41879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543800" y="3608832"/>
            <a:ext cx="4187952" cy="39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 Flask, scikit-learn, etc. dans le conteneur. --no-cache-dir évite de stocker le cache pip.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159752" y="4114800"/>
            <a:ext cx="292608" cy="292608"/>
          </a:xfrm>
          <a:prstGeom prst="rect">
            <a:avLst>
              <a:gd name="adj" fmla="val 50000"/>
            </a:avLst>
          </a:prstGeom>
          <a:solidFill>
            <a:srgbClr val="8064A2"/>
          </a:solidFill>
          <a:ln/>
        </p:spPr>
      </p:sp>
      <p:sp>
        <p:nvSpPr>
          <p:cNvPr id="26" name="Text 24"/>
          <p:cNvSpPr/>
          <p:nvPr/>
        </p:nvSpPr>
        <p:spPr>
          <a:xfrm>
            <a:off x="7159752" y="4114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543800" y="4059936"/>
            <a:ext cx="41879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. 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543800" y="4389120"/>
            <a:ext cx="4187952" cy="39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 tout le code source local dans /app du conteneur.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159752" y="4895088"/>
            <a:ext cx="292608" cy="292608"/>
          </a:xfrm>
          <a:prstGeom prst="rect">
            <a:avLst>
              <a:gd name="adj" fmla="val 50000"/>
            </a:avLst>
          </a:prstGeom>
          <a:solidFill>
            <a:srgbClr val="8064A2"/>
          </a:solidFill>
          <a:ln/>
        </p:spPr>
      </p:sp>
      <p:sp>
        <p:nvSpPr>
          <p:cNvPr id="30" name="Text 28"/>
          <p:cNvSpPr/>
          <p:nvPr/>
        </p:nvSpPr>
        <p:spPr>
          <a:xfrm>
            <a:off x="7159752" y="48950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543800" y="4840224"/>
            <a:ext cx="41879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543800" y="5169408"/>
            <a:ext cx="4187952" cy="39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 que le port 5000 est utilisé. Nécessaire pour que Render route le trafic.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159752" y="5675376"/>
            <a:ext cx="292608" cy="292608"/>
          </a:xfrm>
          <a:prstGeom prst="rect">
            <a:avLst>
              <a:gd name="adj" fmla="val 50000"/>
            </a:avLst>
          </a:prstGeom>
          <a:solidFill>
            <a:srgbClr val="8064A2"/>
          </a:solidFill>
          <a:ln/>
        </p:spPr>
      </p:sp>
      <p:sp>
        <p:nvSpPr>
          <p:cNvPr id="34" name="Text 32"/>
          <p:cNvSpPr/>
          <p:nvPr/>
        </p:nvSpPr>
        <p:spPr>
          <a:xfrm>
            <a:off x="7159752" y="56753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543800" y="5620512"/>
            <a:ext cx="41879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+ CMD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543800" y="5949696"/>
            <a:ext cx="4187952" cy="39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d'environnement pour Flask en production. CMD démarre le serveur automatiquement.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complet — de git push au déploiement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étapes automatiques — zéro intervention manuelle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2240280" cy="5230368"/>
          </a:xfrm>
          <a:prstGeom prst="rect">
            <a:avLst>
              <a:gd name="adj" fmla="val 4898"/>
            </a:avLst>
          </a:prstGeom>
          <a:solidFill>
            <a:srgbClr val="E8F7F6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1170432"/>
            <a:ext cx="2240280" cy="475488"/>
          </a:xfrm>
          <a:prstGeom prst="rect">
            <a:avLst>
              <a:gd name="adj" fmla="val 23077"/>
            </a:avLst>
          </a:prstGeom>
          <a:solidFill>
            <a:srgbClr val="27AE60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1481328"/>
            <a:ext cx="2240280" cy="16459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170432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git push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755648"/>
            <a:ext cx="20574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Développeur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pousse le code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14600" y="347472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651760" y="1170432"/>
            <a:ext cx="2240280" cy="5230368"/>
          </a:xfrm>
          <a:prstGeom prst="rect">
            <a:avLst>
              <a:gd name="adj" fmla="val 4898"/>
            </a:avLst>
          </a:prstGeom>
          <a:solidFill>
            <a:srgbClr val="EBF2FF"/>
          </a:solidFill>
          <a:ln/>
        </p:spPr>
      </p:sp>
      <p:sp>
        <p:nvSpPr>
          <p:cNvPr id="14" name="Shape 12"/>
          <p:cNvSpPr/>
          <p:nvPr/>
        </p:nvSpPr>
        <p:spPr>
          <a:xfrm>
            <a:off x="2651760" y="1170432"/>
            <a:ext cx="2240280" cy="475488"/>
          </a:xfrm>
          <a:prstGeom prst="rect">
            <a:avLst>
              <a:gd name="adj" fmla="val 23077"/>
            </a:avLst>
          </a:prstGeom>
          <a:solidFill>
            <a:srgbClr val="3A7EFF"/>
          </a:solidFill>
          <a:ln/>
        </p:spPr>
      </p:sp>
      <p:sp>
        <p:nvSpPr>
          <p:cNvPr id="15" name="Shape 13"/>
          <p:cNvSpPr/>
          <p:nvPr/>
        </p:nvSpPr>
        <p:spPr>
          <a:xfrm>
            <a:off x="2651760" y="1481328"/>
            <a:ext cx="2240280" cy="164592"/>
          </a:xfrm>
          <a:prstGeom prst="rect">
            <a:avLst/>
          </a:prstGeom>
          <a:solidFill>
            <a:srgbClr val="3A7EFF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0" y="1170432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GitHub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43200" y="1755648"/>
            <a:ext cx="20574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démarre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automatiquement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347472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029200" y="1170432"/>
            <a:ext cx="2240280" cy="5230368"/>
          </a:xfrm>
          <a:prstGeom prst="rect">
            <a:avLst>
              <a:gd name="adj" fmla="val 4898"/>
            </a:avLst>
          </a:prstGeom>
          <a:solidFill>
            <a:srgbClr val="E8F7F6"/>
          </a:solidFill>
          <a:ln/>
        </p:spPr>
      </p:sp>
      <p:sp>
        <p:nvSpPr>
          <p:cNvPr id="20" name="Shape 18"/>
          <p:cNvSpPr/>
          <p:nvPr/>
        </p:nvSpPr>
        <p:spPr>
          <a:xfrm>
            <a:off x="5029200" y="1170432"/>
            <a:ext cx="2240280" cy="475488"/>
          </a:xfrm>
          <a:prstGeom prst="rect">
            <a:avLst>
              <a:gd name="adj" fmla="val 23077"/>
            </a:avLst>
          </a:prstGeom>
          <a:solidFill>
            <a:srgbClr val="E67E22"/>
          </a:solidFill>
          <a:ln/>
        </p:spPr>
      </p:sp>
      <p:sp>
        <p:nvSpPr>
          <p:cNvPr id="21" name="Shape 19"/>
          <p:cNvSpPr/>
          <p:nvPr/>
        </p:nvSpPr>
        <p:spPr>
          <a:xfrm>
            <a:off x="5029200" y="1481328"/>
            <a:ext cx="2240280" cy="16459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2" name="Text 20"/>
          <p:cNvSpPr/>
          <p:nvPr/>
        </p:nvSpPr>
        <p:spPr>
          <a:xfrm>
            <a:off x="5120640" y="1170432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pytest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tests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120640" y="1755648"/>
            <a:ext cx="20574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tests OK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continue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échec → stop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269480" y="347472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7406640" y="1170432"/>
            <a:ext cx="2240280" cy="5230368"/>
          </a:xfrm>
          <a:prstGeom prst="rect">
            <a:avLst>
              <a:gd name="adj" fmla="val 4898"/>
            </a:avLst>
          </a:prstGeom>
          <a:solidFill>
            <a:srgbClr val="EBF2FF"/>
          </a:solidFill>
          <a:ln/>
        </p:spPr>
      </p:sp>
      <p:sp>
        <p:nvSpPr>
          <p:cNvPr id="26" name="Shape 24"/>
          <p:cNvSpPr/>
          <p:nvPr/>
        </p:nvSpPr>
        <p:spPr>
          <a:xfrm>
            <a:off x="7406640" y="1170432"/>
            <a:ext cx="2240280" cy="475488"/>
          </a:xfrm>
          <a:prstGeom prst="rect">
            <a:avLst>
              <a:gd name="adj" fmla="val 23077"/>
            </a:avLst>
          </a:prstGeom>
          <a:solidFill>
            <a:srgbClr val="8064A2"/>
          </a:solidFill>
          <a:ln/>
        </p:spPr>
      </p:sp>
      <p:sp>
        <p:nvSpPr>
          <p:cNvPr id="27" name="Shape 25"/>
          <p:cNvSpPr/>
          <p:nvPr/>
        </p:nvSpPr>
        <p:spPr>
          <a:xfrm>
            <a:off x="7406640" y="1481328"/>
            <a:ext cx="2240280" cy="164592"/>
          </a:xfrm>
          <a:prstGeom prst="rect">
            <a:avLst/>
          </a:prstGeom>
          <a:solidFill>
            <a:srgbClr val="8064A2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0" y="1170432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Docker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Push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498080" y="1755648"/>
            <a:ext cx="20574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construite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poussée sur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Hub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646920" y="347472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9784080" y="1170432"/>
            <a:ext cx="2240280" cy="5230368"/>
          </a:xfrm>
          <a:prstGeom prst="rect">
            <a:avLst>
              <a:gd name="adj" fmla="val 4898"/>
            </a:avLst>
          </a:prstGeom>
          <a:solidFill>
            <a:srgbClr val="E8F7F6"/>
          </a:solidFill>
          <a:ln/>
        </p:spPr>
      </p:sp>
      <p:sp>
        <p:nvSpPr>
          <p:cNvPr id="32" name="Shape 30"/>
          <p:cNvSpPr/>
          <p:nvPr/>
        </p:nvSpPr>
        <p:spPr>
          <a:xfrm>
            <a:off x="9784080" y="1170432"/>
            <a:ext cx="2240280" cy="475488"/>
          </a:xfrm>
          <a:prstGeom prst="rect">
            <a:avLst>
              <a:gd name="adj" fmla="val 23077"/>
            </a:avLst>
          </a:prstGeom>
          <a:solidFill>
            <a:srgbClr val="E74C3C"/>
          </a:solidFill>
          <a:ln/>
        </p:spPr>
      </p:sp>
      <p:sp>
        <p:nvSpPr>
          <p:cNvPr id="33" name="Shape 31"/>
          <p:cNvSpPr/>
          <p:nvPr/>
        </p:nvSpPr>
        <p:spPr>
          <a:xfrm>
            <a:off x="9784080" y="1481328"/>
            <a:ext cx="2240280" cy="16459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4" name="Text 32"/>
          <p:cNvSpPr/>
          <p:nvPr/>
        </p:nvSpPr>
        <p:spPr>
          <a:xfrm>
            <a:off x="9875520" y="1170432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Render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875520" y="1755648"/>
            <a:ext cx="20574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tire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l'image et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redémarre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274320" y="5669280"/>
            <a:ext cx="11640312" cy="1024128"/>
          </a:xfrm>
          <a:prstGeom prst="rect">
            <a:avLst>
              <a:gd name="adj" fmla="val 10714"/>
            </a:avLst>
          </a:prstGeom>
          <a:solidFill>
            <a:srgbClr val="DCE3EA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5742432"/>
            <a:ext cx="1127455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: chaque push sur main déclenche automatiquement les tests puis le déploiement. Si les tests échouent, le déploiement ne se fait pas.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— Monitoring &amp; CI/CD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Qualité, traçabilité et déploiement automatisé pour Le Bon Plat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5486400" cy="2651760"/>
          </a:xfrm>
          <a:prstGeom prst="rect">
            <a:avLst>
              <a:gd name="adj" fmla="val 4138"/>
            </a:avLst>
          </a:prstGeom>
          <a:solidFill>
            <a:srgbClr val="E8F7F6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37160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Logs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1764792"/>
            <a:ext cx="502920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 complète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 fichier log par jour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Chaque requête enregistrée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Erreurs horodatées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170432"/>
            <a:ext cx="411480" cy="2651760"/>
          </a:xfrm>
          <a:prstGeom prst="rect">
            <a:avLst>
              <a:gd name="adj" fmla="val 17778"/>
            </a:avLst>
          </a:prstGeom>
          <a:solidFill>
            <a:srgbClr val="12B8B0"/>
          </a:solidFill>
          <a:ln/>
        </p:spPr>
      </p:sp>
      <p:sp>
        <p:nvSpPr>
          <p:cNvPr id="11" name="Shape 9"/>
          <p:cNvSpPr/>
          <p:nvPr/>
        </p:nvSpPr>
        <p:spPr>
          <a:xfrm>
            <a:off x="6327648" y="1170432"/>
            <a:ext cx="5486400" cy="2651760"/>
          </a:xfrm>
          <a:prstGeom prst="rect">
            <a:avLst>
              <a:gd name="adj" fmla="val 4138"/>
            </a:avLst>
          </a:prstGeom>
          <a:solidFill>
            <a:srgbClr val="EBF2FF"/>
          </a:solidFill>
          <a:ln/>
        </p:spPr>
      </p:sp>
      <p:sp>
        <p:nvSpPr>
          <p:cNvPr id="12" name="Text 10"/>
          <p:cNvSpPr/>
          <p:nvPr/>
        </p:nvSpPr>
        <p:spPr>
          <a:xfrm>
            <a:off x="6556248" y="137160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CI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56248" y="1764792"/>
            <a:ext cx="502920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Continue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22 tests à chaque push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Merge bloqué si échec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GitHub Actions automatique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27648" y="1170432"/>
            <a:ext cx="411480" cy="2651760"/>
          </a:xfrm>
          <a:prstGeom prst="rect">
            <a:avLst>
              <a:gd name="adj" fmla="val 17778"/>
            </a:avLst>
          </a:prstGeom>
          <a:solidFill>
            <a:srgbClr val="12B8B0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3959352"/>
            <a:ext cx="5486400" cy="2651760"/>
          </a:xfrm>
          <a:prstGeom prst="rect">
            <a:avLst>
              <a:gd name="adj" fmla="val 4138"/>
            </a:avLst>
          </a:prstGeom>
          <a:solidFill>
            <a:srgbClr val="E8F7F6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16052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 Docker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4553712"/>
            <a:ext cx="502920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Dockerfile 7 instructions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Image reproductible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python:3.13-slim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959352"/>
            <a:ext cx="411480" cy="2651760"/>
          </a:xfrm>
          <a:prstGeom prst="rect">
            <a:avLst>
              <a:gd name="adj" fmla="val 17778"/>
            </a:avLst>
          </a:prstGeom>
          <a:solidFill>
            <a:srgbClr val="3A7EFF"/>
          </a:solidFill>
          <a:ln/>
        </p:spPr>
      </p:sp>
      <p:sp>
        <p:nvSpPr>
          <p:cNvPr id="19" name="Shape 17"/>
          <p:cNvSpPr/>
          <p:nvPr/>
        </p:nvSpPr>
        <p:spPr>
          <a:xfrm>
            <a:off x="6327648" y="3959352"/>
            <a:ext cx="5486400" cy="2651760"/>
          </a:xfrm>
          <a:prstGeom prst="rect">
            <a:avLst>
              <a:gd name="adj" fmla="val 4138"/>
            </a:avLst>
          </a:prstGeom>
          <a:solidFill>
            <a:srgbClr val="EBF2FF"/>
          </a:solidFill>
          <a:ln/>
        </p:spPr>
      </p:sp>
      <p:sp>
        <p:nvSpPr>
          <p:cNvPr id="20" name="Text 18"/>
          <p:cNvSpPr/>
          <p:nvPr/>
        </p:nvSpPr>
        <p:spPr>
          <a:xfrm>
            <a:off x="6556248" y="416052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CD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56248" y="4553712"/>
            <a:ext cx="502920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Continu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Push main → Render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Image Docker Hub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Zéro intervention manuelle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27648" y="3959352"/>
            <a:ext cx="411480" cy="2651760"/>
          </a:xfrm>
          <a:prstGeom prst="rect">
            <a:avLst>
              <a:gd name="adj" fmla="val 17778"/>
            </a:avLst>
          </a:prstGeom>
          <a:solidFill>
            <a:srgbClr val="3A7EF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2026-09-08T16:49:11Z</dcterms:created>
  <dcterms:modified xsi:type="dcterms:W3CDTF">2026-09-08T16:49:11Z</dcterms:modified>
</cp:coreProperties>
</file>