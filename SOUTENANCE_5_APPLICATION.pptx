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474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5  ·  15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Complète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Plat — Restaurant IA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7614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pages · Vanilla JS · Recommandations IA · Panier · Avis clients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3200400" cy="45720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474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  |  Certification Développeur en Intelligence Artificielle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9136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&amp; objectif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web qui assemble ETL · ML · API en un produit utilisable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00" cy="5230368"/>
          </a:xfrm>
          <a:prstGeom prst="rect">
            <a:avLst>
              <a:gd name="adj" fmla="val 2098"/>
            </a:avLst>
          </a:prstGeom>
          <a:solidFill>
            <a:srgbClr val="DCE3E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716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rôle sur l'application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764792"/>
            <a:ext cx="5029200" cy="4453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le pipeline ETL, le modèle ML et l'API REST, j'ai développé le frontend complet.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Responsabilités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Créer 7 pages en SPA (Single Page App)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Connecter l'UI à l'API Flask (fetch)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Formulaire de recommandation 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Gestion du panier (localStorage)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Checkout + ticket de commande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Page avis clients (GET/POST)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Panneau d'administration (admin.html)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44768" y="1170432"/>
            <a:ext cx="5486400" cy="5230368"/>
          </a:xfrm>
          <a:prstGeom prst="rect">
            <a:avLst>
              <a:gd name="adj" fmla="val 2098"/>
            </a:avLst>
          </a:prstGeom>
          <a:solidFill>
            <a:srgbClr val="E8F7F6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3716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de l'application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73368" y="1764792"/>
            <a:ext cx="5029200" cy="4453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Offrir une expérience client complète 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Accueil avec plats vedettes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Recommandations par l'IA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(température + budget + jour)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Menu filtrable (7 catégories)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Panier persistant (localStorage)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Commande avec ticket PDF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Avis clients en temps réel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sombre · Accent orange (#FF9800)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Awesome · Vanilla JS · SPA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parties pour couvrir l'ensemble de l'application web Le Bon Plat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57200" cy="457200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5212080" cy="2743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280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27648" y="1280160"/>
            <a:ext cx="457200" cy="457200"/>
          </a:xfrm>
          <a:prstGeom prst="rect">
            <a:avLst>
              <a:gd name="adj" fmla="val 50000"/>
            </a:avLst>
          </a:prstGeom>
          <a:solidFill>
            <a:srgbClr val="3A7EFF"/>
          </a:solidFill>
          <a:ln/>
        </p:spPr>
      </p:sp>
      <p:sp>
        <p:nvSpPr>
          <p:cNvPr id="12" name="Text 10"/>
          <p:cNvSpPr/>
          <p:nvPr/>
        </p:nvSpPr>
        <p:spPr>
          <a:xfrm>
            <a:off x="6327648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27648" y="1792224"/>
            <a:ext cx="5212080" cy="27432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14" name="Text 12"/>
          <p:cNvSpPr/>
          <p:nvPr/>
        </p:nvSpPr>
        <p:spPr>
          <a:xfrm>
            <a:off x="6922008" y="1280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7 pages de l'app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57200" cy="457200"/>
          </a:xfrm>
          <a:prstGeom prst="rect">
            <a:avLst>
              <a:gd name="adj" fmla="val 50000"/>
            </a:avLst>
          </a:prstGeom>
          <a:solidFill>
            <a:srgbClr val="8064A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483864"/>
            <a:ext cx="5212080" cy="27432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2971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IA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327648" y="2971800"/>
            <a:ext cx="457200" cy="457200"/>
          </a:xfrm>
          <a:prstGeom prst="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6327648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27648" y="3483864"/>
            <a:ext cx="521208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6922008" y="2971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&amp; Panier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457200" cy="457200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5175504"/>
            <a:ext cx="5212080" cy="274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4663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clients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327648" y="4663440"/>
            <a:ext cx="457200" cy="457200"/>
          </a:xfrm>
          <a:prstGeom prst="rect">
            <a:avLst>
              <a:gd name="adj" fmla="val 50000"/>
            </a:avLst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6327648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27648" y="5175504"/>
            <a:ext cx="5212080" cy="274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6922008" y="4663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Bilan PFE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Single Page Application (SPA) en Vanilla HTML/CSS/JavaScript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Thème sombre avec accent orange — identité visuelle du restaurant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68496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État global centralisé (state) et navigation sans rechargement de page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SPA — 2 choses à retenir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l'app mémorise les données · Comment elle change de page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00" cy="3931920"/>
          </a:xfrm>
          <a:prstGeom prst="rect">
            <a:avLst>
              <a:gd name="adj" fmla="val 2791"/>
            </a:avLst>
          </a:prstGeom>
          <a:solidFill>
            <a:srgbClr val="E8F7F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70432"/>
            <a:ext cx="5486400" cy="475488"/>
          </a:xfrm>
          <a:prstGeom prst="rect">
            <a:avLst>
              <a:gd name="adj" fmla="val 23077"/>
            </a:avLst>
          </a:prstGeom>
          <a:solidFill>
            <a:srgbClr val="12B8B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499616"/>
            <a:ext cx="5486400" cy="14630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170432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L'app mémorise tout ici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1773936"/>
            <a:ext cx="5212080" cy="1627632"/>
          </a:xfrm>
          <a:prstGeom prst="rect">
            <a:avLst>
              <a:gd name="adj" fmla="val 4494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883664"/>
            <a:ext cx="484632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state =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cart:     [],   // articles du panier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products: []    // plats du menu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493008"/>
            <a:ext cx="52120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un carnet de notes partagé 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Client ajoute un plat  →  on écrit dans state.cart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 affiche le panier   →  on lit state.cart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Toute l'app utilise ce même objet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44768" y="1170432"/>
            <a:ext cx="5486400" cy="3931920"/>
          </a:xfrm>
          <a:prstGeom prst="rect">
            <a:avLst>
              <a:gd name="adj" fmla="val 2791"/>
            </a:avLst>
          </a:prstGeom>
          <a:solidFill>
            <a:srgbClr val="EBF2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144768" y="1170432"/>
            <a:ext cx="5486400" cy="475488"/>
          </a:xfrm>
          <a:prstGeom prst="rect">
            <a:avLst>
              <a:gd name="adj" fmla="val 23077"/>
            </a:avLst>
          </a:prstGeom>
          <a:solidFill>
            <a:srgbClr val="3A7E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144768" y="1499616"/>
            <a:ext cx="5486400" cy="146304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17" name="Text 15"/>
          <p:cNvSpPr/>
          <p:nvPr/>
        </p:nvSpPr>
        <p:spPr>
          <a:xfrm>
            <a:off x="6281928" y="1170432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Changer de page sans rechargement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81928" y="1773936"/>
            <a:ext cx="5212080" cy="1627632"/>
          </a:xfrm>
          <a:prstGeom prst="rect">
            <a:avLst>
              <a:gd name="adj" fmla="val 4494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1883664"/>
            <a:ext cx="484632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Clic sur "Menu" dans la navbar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showPage("menu");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cache home, reco, cart, avis...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affiche seulement le menu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81928" y="3493008"/>
            <a:ext cx="52120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un livre avec des intercalaires 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Toutes les pages existent déjà dans le HTML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showPage() cache tout SAUF la page demandée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Navigation instantanée — zéro rechargement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166360"/>
            <a:ext cx="11274552" cy="1417320"/>
          </a:xfrm>
          <a:prstGeom prst="rect">
            <a:avLst>
              <a:gd name="adj" fmla="val 7742"/>
            </a:avLst>
          </a:prstGeom>
          <a:solidFill>
            <a:srgbClr val="12B8B0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5230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jury retient 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" y="555955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est une SEULE page HTML. Toutes les données vivent dans "state". Quand le client clique sur Menu, l'app ne recharge pas — elle cache les autres sections et montre le menu. C'est ce qu'on appelle une SPA (Single Page Application).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5/30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thème visuel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graphique dark — cohérence restaurant premium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1645920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7043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03120" y="1170432"/>
            <a:ext cx="1828800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0" name="Text 8"/>
          <p:cNvSpPr/>
          <p:nvPr/>
        </p:nvSpPr>
        <p:spPr>
          <a:xfrm>
            <a:off x="2148840" y="11704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0" y="1170432"/>
            <a:ext cx="7982712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3977640" y="1170432"/>
            <a:ext cx="7936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536192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5361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principal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03120" y="1536192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15361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#0F0F0F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31920" y="1536192"/>
            <a:ext cx="79827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1536192"/>
            <a:ext cx="7891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Noir profond — immersion restaurant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64592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primaire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03120" y="2011680"/>
            <a:ext cx="182880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48840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#FF9800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31920" y="2011680"/>
            <a:ext cx="7982712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2011680"/>
            <a:ext cx="7891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— chaleur, appétissant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487168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4871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principal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03120" y="2487168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48840" y="24871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931920" y="2487168"/>
            <a:ext cx="79827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77640" y="2487168"/>
            <a:ext cx="7891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 — lisibilité maximale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2962656"/>
            <a:ext cx="164592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96265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secondaire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03120" y="2962656"/>
            <a:ext cx="182880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48840" y="296265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#CCCCCC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931920" y="2962656"/>
            <a:ext cx="7982712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77640" y="2962656"/>
            <a:ext cx="7891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 clair — hiérarchie visuelle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438144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43814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produit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103120" y="3438144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48840" y="343814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#1A1A1A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931920" y="3438144"/>
            <a:ext cx="79827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77640" y="3438144"/>
            <a:ext cx="7891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 foncé — contraste fond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3913632"/>
            <a:ext cx="164592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391363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Bordures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103120" y="3913632"/>
            <a:ext cx="182880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48840" y="39136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#333333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931920" y="3913632"/>
            <a:ext cx="7982712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77640" y="3913632"/>
            <a:ext cx="7891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subtile des éléments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4389120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389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accent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103120" y="438912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48840" y="4389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#F57C00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931920" y="4389120"/>
            <a:ext cx="79827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77640" y="4389120"/>
            <a:ext cx="7891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foncé — feedback interaction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5138928"/>
            <a:ext cx="11274552" cy="1463040"/>
          </a:xfrm>
          <a:prstGeom prst="rect">
            <a:avLst>
              <a:gd name="adj" fmla="val 7500"/>
            </a:avLst>
          </a:prstGeom>
          <a:solidFill>
            <a:srgbClr val="E8F7F6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5257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CSS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40080" y="56235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transition: all 0.3s ease  ·  hover: scale(1.02)  ·  @keyframes fadeIn  ·  box-shadow orange au hover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6/30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7 pages de l'app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Accueil : hero image + plats vedettes chargés via GET /api/menu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Menu : grille filtrée par catégorie · Recommandations IA · Panier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68496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Checkout · Confirmation · Avis clients · Panneau admin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7/30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des 7 pages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SPA — une seule page HTML avec sections show/hide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00" cy="1298448"/>
          </a:xfrm>
          <a:prstGeom prst="rect">
            <a:avLst>
              <a:gd name="adj" fmla="val 7042"/>
            </a:avLst>
          </a:prstGeom>
          <a:solidFill>
            <a:srgbClr val="E8F7F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70432"/>
            <a:ext cx="365760" cy="1298448"/>
          </a:xfrm>
          <a:prstGeom prst="rect">
            <a:avLst>
              <a:gd name="adj" fmla="val 20000"/>
            </a:avLst>
          </a:prstGeom>
          <a:solidFill>
            <a:srgbClr val="12B8B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2252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B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#home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49961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1243584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image + 6 plats vedettes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bouton "Voir les recommandations"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27648" y="1170432"/>
            <a:ext cx="5486400" cy="1298448"/>
          </a:xfrm>
          <a:prstGeom prst="rect">
            <a:avLst>
              <a:gd name="adj" fmla="val 7042"/>
            </a:avLst>
          </a:prstGeom>
          <a:solidFill>
            <a:srgbClr val="EBF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327648" y="1170432"/>
            <a:ext cx="365760" cy="1298448"/>
          </a:xfrm>
          <a:prstGeom prst="rect">
            <a:avLst>
              <a:gd name="adj" fmla="val 20000"/>
            </a:avLst>
          </a:prstGeom>
          <a:solidFill>
            <a:srgbClr val="3A7EFF"/>
          </a:solidFill>
          <a:ln/>
        </p:spPr>
      </p:sp>
      <p:sp>
        <p:nvSpPr>
          <p:cNvPr id="14" name="Text 12"/>
          <p:cNvSpPr/>
          <p:nvPr/>
        </p:nvSpPr>
        <p:spPr>
          <a:xfrm>
            <a:off x="6784848" y="12252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7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#recommendations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84848" y="149961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79408" y="1243584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IA + formulaire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/ jour / température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résultats 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5486400" cy="1298448"/>
          </a:xfrm>
          <a:prstGeom prst="rect">
            <a:avLst>
              <a:gd name="adj" fmla="val 7042"/>
            </a:avLst>
          </a:prstGeom>
          <a:solidFill>
            <a:srgbClr val="E8F7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560320"/>
            <a:ext cx="365760" cy="1298448"/>
          </a:xfrm>
          <a:prstGeom prst="rect">
            <a:avLst>
              <a:gd name="adj" fmla="val 20000"/>
            </a:avLst>
          </a:prstGeom>
          <a:solidFill>
            <a:srgbClr val="8064A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6151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064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#menu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288950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0" y="2633472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 tous les plats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boutons de filtre catégorie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"Ajouter au panier"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27648" y="2560320"/>
            <a:ext cx="5486400" cy="1298448"/>
          </a:xfrm>
          <a:prstGeom prst="rect">
            <a:avLst>
              <a:gd name="adj" fmla="val 7042"/>
            </a:avLst>
          </a:prstGeom>
          <a:solidFill>
            <a:srgbClr val="EBF2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327648" y="2560320"/>
            <a:ext cx="365760" cy="1298448"/>
          </a:xfrm>
          <a:prstGeom prst="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6784848" y="26151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#cart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84848" y="288950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79408" y="2633472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+ quantités ±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dynamique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bouton "Commander"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50208"/>
            <a:ext cx="5486400" cy="1298448"/>
          </a:xfrm>
          <a:prstGeom prst="rect">
            <a:avLst>
              <a:gd name="adj" fmla="val 7042"/>
            </a:avLst>
          </a:prstGeom>
          <a:solidFill>
            <a:srgbClr val="E8F7F6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3950208"/>
            <a:ext cx="365760" cy="1298448"/>
          </a:xfrm>
          <a:prstGeom prst="rect">
            <a:avLst>
              <a:gd name="adj" fmla="val 20000"/>
            </a:avLst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0050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#checkout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" y="427939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108960" y="402336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: nom + téléphone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→ ticket de commande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27648" y="3950208"/>
            <a:ext cx="5486400" cy="1298448"/>
          </a:xfrm>
          <a:prstGeom prst="rect">
            <a:avLst>
              <a:gd name="adj" fmla="val 7042"/>
            </a:avLst>
          </a:prstGeom>
          <a:solidFill>
            <a:srgbClr val="EBF2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327648" y="3950208"/>
            <a:ext cx="365760" cy="1298448"/>
          </a:xfrm>
          <a:prstGeom prst="rect">
            <a:avLst>
              <a:gd name="adj" fmla="val 20000"/>
            </a:avLst>
          </a:prstGeom>
          <a:solidFill>
            <a:srgbClr val="E74C3C"/>
          </a:solidFill>
          <a:ln/>
        </p:spPr>
      </p:sp>
      <p:sp>
        <p:nvSpPr>
          <p:cNvPr id="34" name="Text 32"/>
          <p:cNvSpPr/>
          <p:nvPr/>
        </p:nvSpPr>
        <p:spPr>
          <a:xfrm>
            <a:off x="6784848" y="40050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#confirmation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84848" y="427939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979408" y="402336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#RANDOM9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+ total +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Bouton imprimer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92424" y="5340096"/>
            <a:ext cx="5212080" cy="1298448"/>
          </a:xfrm>
          <a:prstGeom prst="rect">
            <a:avLst>
              <a:gd name="adj" fmla="val 7042"/>
            </a:avLst>
          </a:prstGeom>
          <a:solidFill>
            <a:srgbClr val="E8F7F6"/>
          </a:solidFill>
          <a:ln/>
        </p:spPr>
      </p:sp>
      <p:sp>
        <p:nvSpPr>
          <p:cNvPr id="38" name="Shape 36"/>
          <p:cNvSpPr/>
          <p:nvPr/>
        </p:nvSpPr>
        <p:spPr>
          <a:xfrm>
            <a:off x="3392424" y="5340096"/>
            <a:ext cx="365760" cy="1298448"/>
          </a:xfrm>
          <a:prstGeom prst="rect">
            <a:avLst>
              <a:gd name="adj" fmla="val 20000"/>
            </a:avLst>
          </a:prstGeom>
          <a:solidFill>
            <a:srgbClr val="607080"/>
          </a:solidFill>
          <a:ln/>
        </p:spPr>
      </p:sp>
      <p:sp>
        <p:nvSpPr>
          <p:cNvPr id="39" name="Text 37"/>
          <p:cNvSpPr/>
          <p:nvPr/>
        </p:nvSpPr>
        <p:spPr>
          <a:xfrm>
            <a:off x="3849624" y="53949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/admin.html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849624" y="566928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044184" y="5413248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séparée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produits + avis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API Flask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3152"/>
            <a:ext cx="548640" cy="1005840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Accueil — Application réelle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56692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image · Nos spécialités · Navigation sticky · Badge panier</a:t>
            </a:r>
            <a:endParaRPr lang="en-US" sz="1300" dirty="0"/>
          </a:p>
        </p:txBody>
      </p:sp>
      <p:pic>
        <p:nvPicPr>
          <p:cNvPr id="8" name="Image 0" descr="C:/Users/MonPC/AppData/Local/Temp/claude/C--Users-MonPC-Desktop-projet-PFE/b07ff7f2-83d3-4613-9f00-5da48a17a6dd/scratchpad/screen_accue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207008"/>
            <a:ext cx="11384280" cy="52852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9/30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createCard() — Fabriquer une fiche produit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fonction qui transforme les données API en carte visuelle pour le client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3291840" cy="2331720"/>
          </a:xfrm>
          <a:prstGeom prst="rect">
            <a:avLst>
              <a:gd name="adj" fmla="val 4706"/>
            </a:avLst>
          </a:prstGeom>
          <a:solidFill>
            <a:srgbClr val="EBF2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70432"/>
            <a:ext cx="3291840" cy="420624"/>
          </a:xfrm>
          <a:prstGeom prst="rect">
            <a:avLst>
              <a:gd name="adj" fmla="val 26087"/>
            </a:avLst>
          </a:prstGeom>
          <a:solidFill>
            <a:srgbClr val="3A7E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444752"/>
            <a:ext cx="3291840" cy="146304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170432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— données brutes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682496"/>
            <a:ext cx="3108960" cy="1691640"/>
          </a:xfrm>
          <a:prstGeom prst="rect">
            <a:avLst>
              <a:gd name="adj" fmla="val 4324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92224"/>
            <a:ext cx="2743200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"Buddha bowl",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price: 14.00,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category: "Vegetarien"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86200" y="21031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617720" y="1170432"/>
            <a:ext cx="3291840" cy="2331720"/>
          </a:xfrm>
          <a:prstGeom prst="rect">
            <a:avLst>
              <a:gd name="adj" fmla="val 4706"/>
            </a:avLst>
          </a:prstGeom>
          <a:solidFill>
            <a:srgbClr val="E8F7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617720" y="1170432"/>
            <a:ext cx="3291840" cy="420624"/>
          </a:xfrm>
          <a:prstGeom prst="rect">
            <a:avLst>
              <a:gd name="adj" fmla="val 26087"/>
            </a:avLst>
          </a:prstGeom>
          <a:solidFill>
            <a:srgbClr val="12B8B0"/>
          </a:solidFill>
          <a:ln/>
        </p:spPr>
      </p:sp>
      <p:sp>
        <p:nvSpPr>
          <p:cNvPr id="16" name="Shape 14"/>
          <p:cNvSpPr/>
          <p:nvPr/>
        </p:nvSpPr>
        <p:spPr>
          <a:xfrm>
            <a:off x="4617720" y="1444752"/>
            <a:ext cx="3291840" cy="14630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170432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createCard(product)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1682496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Récupère l'image du plat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Écrit le nom + la catégorie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Affiche le prix en euros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Ajoute le bouton "Ajouter au panier"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21031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778240" y="1170432"/>
            <a:ext cx="2926080" cy="2331720"/>
          </a:xfrm>
          <a:prstGeom prst="rect">
            <a:avLst>
              <a:gd name="adj" fmla="val 4706"/>
            </a:avLst>
          </a:prstGeom>
          <a:solidFill>
            <a:srgbClr val="FFF3E0"/>
          </a:solidFill>
          <a:ln/>
        </p:spPr>
      </p:sp>
      <p:sp>
        <p:nvSpPr>
          <p:cNvPr id="21" name="Shape 19"/>
          <p:cNvSpPr/>
          <p:nvPr/>
        </p:nvSpPr>
        <p:spPr>
          <a:xfrm>
            <a:off x="8778240" y="1170432"/>
            <a:ext cx="2926080" cy="420624"/>
          </a:xfrm>
          <a:prstGeom prst="rect">
            <a:avLst>
              <a:gd name="adj" fmla="val 26087"/>
            </a:avLst>
          </a:prstGeom>
          <a:solidFill>
            <a:srgbClr val="E67E22"/>
          </a:solidFill>
          <a:ln/>
        </p:spPr>
      </p:sp>
      <p:sp>
        <p:nvSpPr>
          <p:cNvPr id="22" name="Shape 20"/>
          <p:cNvSpPr/>
          <p:nvPr/>
        </p:nvSpPr>
        <p:spPr>
          <a:xfrm>
            <a:off x="8778240" y="1444752"/>
            <a:ext cx="2926080" cy="14630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8915400" y="117043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— fiche visible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15400" y="1682496"/>
            <a:ext cx="2651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[📷 image]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Buddha bowl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Végétarien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14.00 €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[Ajouter au panier]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639312"/>
            <a:ext cx="6583680" cy="2487168"/>
          </a:xfrm>
          <a:prstGeom prst="rect">
            <a:avLst>
              <a:gd name="adj" fmla="val 2941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749040"/>
            <a:ext cx="6217920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createCard(product)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`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class="product-card"&gt;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&lt;img src="${product.image}"&gt;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&lt;div&gt;${product.name}&lt;/div&gt;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&lt;div&gt;${product.price.toFixed(2)}€&lt;/div&gt;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onclick="addToCart(${product.id})"&gt;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Ajouter au panier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&lt;/button&gt;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05472" y="3639312"/>
            <a:ext cx="4663440" cy="2487168"/>
          </a:xfrm>
          <a:prstGeom prst="rect">
            <a:avLst>
              <a:gd name="adj" fmla="val 4412"/>
            </a:avLst>
          </a:prstGeom>
          <a:solidFill>
            <a:srgbClr val="E8F7F6"/>
          </a:solidFill>
          <a:ln/>
        </p:spPr>
      </p:sp>
      <p:sp>
        <p:nvSpPr>
          <p:cNvPr id="28" name="Shape 26"/>
          <p:cNvSpPr/>
          <p:nvPr/>
        </p:nvSpPr>
        <p:spPr>
          <a:xfrm>
            <a:off x="7205472" y="3639312"/>
            <a:ext cx="4663440" cy="420624"/>
          </a:xfrm>
          <a:prstGeom prst="rect">
            <a:avLst>
              <a:gd name="adj" fmla="val 26087"/>
            </a:avLst>
          </a:prstGeom>
          <a:solidFill>
            <a:srgbClr val="12B8B0"/>
          </a:solidFill>
          <a:ln/>
        </p:spPr>
      </p:sp>
      <p:sp>
        <p:nvSpPr>
          <p:cNvPr id="29" name="Shape 27"/>
          <p:cNvSpPr/>
          <p:nvPr/>
        </p:nvSpPr>
        <p:spPr>
          <a:xfrm>
            <a:off x="7205472" y="3913632"/>
            <a:ext cx="4663440" cy="14630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30" name="Text 28"/>
          <p:cNvSpPr/>
          <p:nvPr/>
        </p:nvSpPr>
        <p:spPr>
          <a:xfrm>
            <a:off x="7342632" y="3639312"/>
            <a:ext cx="4389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fonction ?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296912" y="4169664"/>
            <a:ext cx="274320" cy="274320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32" name="Text 30"/>
          <p:cNvSpPr/>
          <p:nvPr/>
        </p:nvSpPr>
        <p:spPr>
          <a:xfrm>
            <a:off x="7296912" y="41696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62672" y="4151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menu peut avoir 20+ plats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62672" y="444398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appelle createCard() pour CHAQUE plat.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= une fiche HTML par plat.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96912" y="4828032"/>
            <a:ext cx="274320" cy="274320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36" name="Text 34"/>
          <p:cNvSpPr/>
          <p:nvPr/>
        </p:nvSpPr>
        <p:spPr>
          <a:xfrm>
            <a:off x="7296912" y="4828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662672" y="48097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afficher tout le menu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62672" y="510235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products.map(createCard).join("")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Génère toutes les fiches en 1 ligne de code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296912" y="5486400"/>
            <a:ext cx="274320" cy="274320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40" name="Text 38"/>
          <p:cNvSpPr/>
          <p:nvPr/>
        </p:nvSpPr>
        <p:spPr>
          <a:xfrm>
            <a:off x="7296912" y="5486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662672" y="54681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est automatique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662672" y="576072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onclick="addToCart(id)" → clique = plat dans le panier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10/30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3152"/>
            <a:ext cx="548640" cy="1005840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Menu — Application réelle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56692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 plats · 7 boutons de filtre catégorie · Bouton "Ajouter au panier"</a:t>
            </a:r>
            <a:endParaRPr lang="en-US" sz="1300" dirty="0"/>
          </a:p>
        </p:txBody>
      </p:sp>
      <p:pic>
        <p:nvPicPr>
          <p:cNvPr id="8" name="Image 0" descr="C:/Users/MonPC/AppData/Local/Temp/claude/C--Users-MonPC-Desktop-projet-PFE/b07ff7f2-83d3-4613-9f00-5da48a17a6dd/scratchpad/screen_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207008"/>
            <a:ext cx="11384280" cy="52852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11/30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Recommandations — aperçu complet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IA + formulaire 3 champs + affichage des plats recommandés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3657600" cy="5230368"/>
          </a:xfrm>
          <a:prstGeom prst="rect">
            <a:avLst>
              <a:gd name="adj" fmla="val 3000"/>
            </a:avLst>
          </a:prstGeom>
          <a:solidFill>
            <a:srgbClr val="E8F7F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716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Éléments de la page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764792"/>
            <a:ext cx="3200400" cy="4453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Mascotte robot SVG vert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Dessiné en SVG inline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Message "Je peux vous aider"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Accent couleur #4CAF50 (vert)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rec-form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Budget (€) — input number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Jour (0–6) — select option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Température (°C) — input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Bouton "Recommander"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résultats (hidden)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products-grid créé dynamiquement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70248" y="1170432"/>
            <a:ext cx="3657600" cy="5230368"/>
          </a:xfrm>
          <a:prstGeom prst="rect">
            <a:avLst>
              <a:gd name="adj" fmla="val 3000"/>
            </a:avLst>
          </a:prstGeom>
          <a:solidFill>
            <a:srgbClr val="EBF2FF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3716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données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98848" y="1764792"/>
            <a:ext cx="3200400" cy="4453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Saisie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budget=15€, jour=Mercredi(2),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température=20°C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fetch POST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/api/recommendations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{temperature:20, budget:15,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month:8, day:2}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Réponse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{prediction:{category:"Grill"},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recommended_products:[...]}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— Affichage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map(createCard).join("")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74152" y="1170432"/>
            <a:ext cx="3657600" cy="5230368"/>
          </a:xfrm>
          <a:prstGeom prst="rect">
            <a:avLst>
              <a:gd name="adj" fmla="val 3000"/>
            </a:avLst>
          </a:prstGeom>
          <a:solidFill>
            <a:srgbClr val="DCE3EA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13716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handleRecommend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2752" y="1764792"/>
            <a:ext cx="3200400" cy="4453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function handleRecommend(e){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e.preventDefault();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const budget = parseFloat(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rec-budget.value);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const day = parseInt(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rec-day.value);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const temp = parseFloat(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rec-temp.value);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const response = await fetch(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"/api/recommendations",{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method:"POST",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headers:{"Content-Type":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"application/json"},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body: JSON.stringify({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temperature:temp,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budget, month:8, day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})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// Affiche les plats retournés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IA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Parcours complet du client — formulaire → API → résultats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Intégration du Random Forest 90.52% dans l'expérience utilisateur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68496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Affichage dynamique des plats recommandés par la catégorie prédite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13/30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handleRecommend() — Comment les recommandations fonctionnent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étapes : formulaire → API → réponse → affichage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2697480" cy="3200400"/>
          </a:xfrm>
          <a:prstGeom prst="rect">
            <a:avLst>
              <a:gd name="adj" fmla="val 4068"/>
            </a:avLst>
          </a:prstGeom>
          <a:solidFill>
            <a:srgbClr val="E8F7F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70432"/>
            <a:ext cx="2697480" cy="502920"/>
          </a:xfrm>
          <a:prstGeom prst="rect">
            <a:avLst>
              <a:gd name="adj" fmla="val 21818"/>
            </a:avLst>
          </a:prstGeom>
          <a:solidFill>
            <a:srgbClr val="12B8B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527048"/>
            <a:ext cx="2697480" cy="14630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1216152"/>
            <a:ext cx="402336" cy="402336"/>
          </a:xfrm>
          <a:prstGeom prst="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216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117043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remplit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formulaire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1737360"/>
            <a:ext cx="2487168" cy="2523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: 15€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: Lundi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: 20°C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54680" y="2542032"/>
            <a:ext cx="21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64992" y="1170432"/>
            <a:ext cx="2697480" cy="3200400"/>
          </a:xfrm>
          <a:prstGeom prst="rect">
            <a:avLst>
              <a:gd name="adj" fmla="val 4068"/>
            </a:avLst>
          </a:prstGeom>
          <a:solidFill>
            <a:srgbClr val="EBF2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364992" y="1170432"/>
            <a:ext cx="2697480" cy="502920"/>
          </a:xfrm>
          <a:prstGeom prst="rect">
            <a:avLst>
              <a:gd name="adj" fmla="val 21818"/>
            </a:avLst>
          </a:prstGeom>
          <a:solidFill>
            <a:srgbClr val="3A7E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364992" y="1527048"/>
            <a:ext cx="2697480" cy="146304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438144" y="1216152"/>
            <a:ext cx="402336" cy="402336"/>
          </a:xfrm>
          <a:prstGeom prst="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438144" y="1216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913632" y="117043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envoie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l'API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1737360"/>
            <a:ext cx="2487168" cy="2523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/api/recommendations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budget, day, temp }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62472" y="2542032"/>
            <a:ext cx="21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72784" y="1170432"/>
            <a:ext cx="2697480" cy="3200400"/>
          </a:xfrm>
          <a:prstGeom prst="rect">
            <a:avLst>
              <a:gd name="adj" fmla="val 4068"/>
            </a:avLst>
          </a:prstGeom>
          <a:solidFill>
            <a:srgbClr val="E8F7F6"/>
          </a:solidFill>
          <a:ln/>
        </p:spPr>
      </p:sp>
      <p:sp>
        <p:nvSpPr>
          <p:cNvPr id="24" name="Shape 22"/>
          <p:cNvSpPr/>
          <p:nvPr/>
        </p:nvSpPr>
        <p:spPr>
          <a:xfrm>
            <a:off x="6272784" y="1170432"/>
            <a:ext cx="2697480" cy="502920"/>
          </a:xfrm>
          <a:prstGeom prst="rect">
            <a:avLst>
              <a:gd name="adj" fmla="val 21818"/>
            </a:avLst>
          </a:prstGeom>
          <a:solidFill>
            <a:srgbClr val="8064A2"/>
          </a:solidFill>
          <a:ln/>
        </p:spPr>
      </p:sp>
      <p:sp>
        <p:nvSpPr>
          <p:cNvPr id="25" name="Shape 23"/>
          <p:cNvSpPr/>
          <p:nvPr/>
        </p:nvSpPr>
        <p:spPr>
          <a:xfrm>
            <a:off x="6272784" y="1527048"/>
            <a:ext cx="2697480" cy="146304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26" name="Shape 24"/>
          <p:cNvSpPr/>
          <p:nvPr/>
        </p:nvSpPr>
        <p:spPr>
          <a:xfrm>
            <a:off x="6345936" y="1216152"/>
            <a:ext cx="402336" cy="402336"/>
          </a:xfrm>
          <a:prstGeom prst="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345936" y="1216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21424" y="117043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répond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les plats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82512" y="1737360"/>
            <a:ext cx="2487168" cy="2523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category: "Grill",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products: [3 plats] }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970264" y="2542032"/>
            <a:ext cx="21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180576" y="1170432"/>
            <a:ext cx="2697480" cy="3200400"/>
          </a:xfrm>
          <a:prstGeom prst="rect">
            <a:avLst>
              <a:gd name="adj" fmla="val 4068"/>
            </a:avLst>
          </a:prstGeom>
          <a:solidFill>
            <a:srgbClr val="EBF2FF"/>
          </a:solidFill>
          <a:ln/>
        </p:spPr>
      </p:sp>
      <p:sp>
        <p:nvSpPr>
          <p:cNvPr id="32" name="Shape 30"/>
          <p:cNvSpPr/>
          <p:nvPr/>
        </p:nvSpPr>
        <p:spPr>
          <a:xfrm>
            <a:off x="9180576" y="1170432"/>
            <a:ext cx="2697480" cy="502920"/>
          </a:xfrm>
          <a:prstGeom prst="rect">
            <a:avLst>
              <a:gd name="adj" fmla="val 21818"/>
            </a:avLst>
          </a:prstGeom>
          <a:solidFill>
            <a:srgbClr val="27AE60"/>
          </a:solidFill>
          <a:ln/>
        </p:spPr>
      </p:sp>
      <p:sp>
        <p:nvSpPr>
          <p:cNvPr id="33" name="Shape 31"/>
          <p:cNvSpPr/>
          <p:nvPr/>
        </p:nvSpPr>
        <p:spPr>
          <a:xfrm>
            <a:off x="9180576" y="1527048"/>
            <a:ext cx="2697480" cy="14630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4" name="Shape 32"/>
          <p:cNvSpPr/>
          <p:nvPr/>
        </p:nvSpPr>
        <p:spPr>
          <a:xfrm>
            <a:off x="9253728" y="1216152"/>
            <a:ext cx="402336" cy="402336"/>
          </a:xfrm>
          <a:prstGeom prst="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9253728" y="1216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729216" y="117043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plats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s'affichent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290304" y="1737360"/>
            <a:ext cx="2487168" cy="2523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createCard()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plat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fiches sur la page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" y="4498848"/>
            <a:ext cx="7498080" cy="1481328"/>
          </a:xfrm>
          <a:prstGeom prst="rect">
            <a:avLst>
              <a:gd name="adj" fmla="val 4938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608576"/>
            <a:ext cx="71323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L'essentiel : envoyer les données du formulaire à l'API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response = await fetch("/api/recommendations",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method: "POST",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JSON.stringify({ temperature: 20, budget: 15, day: 1 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data = await response.json();  // reçoit les plats recommandés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092440" y="4498848"/>
            <a:ext cx="3657600" cy="1481328"/>
          </a:xfrm>
          <a:prstGeom prst="rect">
            <a:avLst>
              <a:gd name="adj" fmla="val 7407"/>
            </a:avLst>
          </a:prstGeom>
          <a:solidFill>
            <a:srgbClr val="E8F7F6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0" y="455371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"await" ?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229600" y="491947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attend la réponse de l'API sans bloquer la page. Pendant l'attente, le client peut toujours naviguer.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6053328"/>
            <a:ext cx="11274552" cy="685800"/>
          </a:xfrm>
          <a:prstGeom prst="rect">
            <a:avLst>
              <a:gd name="adj" fmla="val 13333"/>
            </a:avLst>
          </a:prstGeom>
          <a:solidFill>
            <a:srgbClr val="12B8B0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60807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 : le formulaire collecte 3 infos → l'app les envoie à l'API Flask → l'API utilise le modèle IA → répond avec les plats → l'app les affiche.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14/30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complet de recommandation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formulaire à l'assiette — 6 étapes intégrées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1801368" cy="5230368"/>
          </a:xfrm>
          <a:prstGeom prst="rect">
            <a:avLst>
              <a:gd name="adj" fmla="val 6091"/>
            </a:avLst>
          </a:prstGeom>
          <a:solidFill>
            <a:srgbClr val="E8F7F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70432"/>
            <a:ext cx="1801368" cy="411480"/>
          </a:xfrm>
          <a:prstGeom prst="rect">
            <a:avLst>
              <a:gd name="adj" fmla="val 26667"/>
            </a:avLst>
          </a:prstGeom>
          <a:solidFill>
            <a:srgbClr val="12B8B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444752"/>
            <a:ext cx="1801368" cy="137160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1704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Saisie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627632"/>
            <a:ext cx="164592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remplit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: 15€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: Mercredi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: 20°C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58568" y="3657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41448" y="1170432"/>
            <a:ext cx="1801368" cy="5230368"/>
          </a:xfrm>
          <a:prstGeom prst="rect">
            <a:avLst>
              <a:gd name="adj" fmla="val 6091"/>
            </a:avLst>
          </a:prstGeom>
          <a:solidFill>
            <a:srgbClr val="EBF2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441448" y="1170432"/>
            <a:ext cx="1801368" cy="411480"/>
          </a:xfrm>
          <a:prstGeom prst="rect">
            <a:avLst>
              <a:gd name="adj" fmla="val 26667"/>
            </a:avLst>
          </a:prstGeom>
          <a:solidFill>
            <a:srgbClr val="3A7E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441448" y="1444752"/>
            <a:ext cx="1801368" cy="137160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16" name="Text 14"/>
          <p:cNvSpPr/>
          <p:nvPr/>
        </p:nvSpPr>
        <p:spPr>
          <a:xfrm>
            <a:off x="2514600" y="11704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fetch POST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1627632"/>
            <a:ext cx="164592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/api/recommendations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{temperature:20,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budget:15,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month:8, day:2}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42816" y="3657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25696" y="1170432"/>
            <a:ext cx="1801368" cy="5230368"/>
          </a:xfrm>
          <a:prstGeom prst="rect">
            <a:avLst>
              <a:gd name="adj" fmla="val 6091"/>
            </a:avLst>
          </a:prstGeom>
          <a:solidFill>
            <a:srgbClr val="E8F7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425696" y="1170432"/>
            <a:ext cx="1801368" cy="411480"/>
          </a:xfrm>
          <a:prstGeom prst="rect">
            <a:avLst>
              <a:gd name="adj" fmla="val 26667"/>
            </a:avLst>
          </a:prstGeom>
          <a:solidFill>
            <a:srgbClr val="8064A2"/>
          </a:solidFill>
          <a:ln/>
        </p:spPr>
      </p:sp>
      <p:sp>
        <p:nvSpPr>
          <p:cNvPr id="21" name="Shape 19"/>
          <p:cNvSpPr/>
          <p:nvPr/>
        </p:nvSpPr>
        <p:spPr>
          <a:xfrm>
            <a:off x="4425696" y="1444752"/>
            <a:ext cx="1801368" cy="137160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22" name="Text 20"/>
          <p:cNvSpPr/>
          <p:nvPr/>
        </p:nvSpPr>
        <p:spPr>
          <a:xfrm>
            <a:off x="4498848" y="11704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Backend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98848" y="1627632"/>
            <a:ext cx="164592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Python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MLModel.predict()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= "Grill"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27064" y="3657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9944" y="1170432"/>
            <a:ext cx="1801368" cy="5230368"/>
          </a:xfrm>
          <a:prstGeom prst="rect">
            <a:avLst>
              <a:gd name="adj" fmla="val 6091"/>
            </a:avLst>
          </a:prstGeom>
          <a:solidFill>
            <a:srgbClr val="EBF2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9944" y="1170432"/>
            <a:ext cx="1801368" cy="411480"/>
          </a:xfrm>
          <a:prstGeom prst="rect">
            <a:avLst>
              <a:gd name="adj" fmla="val 26667"/>
            </a:avLst>
          </a:prstGeom>
          <a:solidFill>
            <a:srgbClr val="E67E22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9944" y="1444752"/>
            <a:ext cx="1801368" cy="1371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6483096" y="11704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Filtrage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83096" y="1627632"/>
            <a:ext cx="164592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load_products()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p.category=="Grill"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 plats max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11312" y="3657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394192" y="1170432"/>
            <a:ext cx="1801368" cy="5230368"/>
          </a:xfrm>
          <a:prstGeom prst="rect">
            <a:avLst>
              <a:gd name="adj" fmla="val 6091"/>
            </a:avLst>
          </a:prstGeom>
          <a:solidFill>
            <a:srgbClr val="E8F7F6"/>
          </a:solidFill>
          <a:ln/>
        </p:spPr>
      </p:sp>
      <p:sp>
        <p:nvSpPr>
          <p:cNvPr id="32" name="Shape 30"/>
          <p:cNvSpPr/>
          <p:nvPr/>
        </p:nvSpPr>
        <p:spPr>
          <a:xfrm>
            <a:off x="8394192" y="1170432"/>
            <a:ext cx="1801368" cy="411480"/>
          </a:xfrm>
          <a:prstGeom prst="rect">
            <a:avLst>
              <a:gd name="adj" fmla="val 26667"/>
            </a:avLst>
          </a:prstGeom>
          <a:solidFill>
            <a:srgbClr val="27AE60"/>
          </a:solidFill>
          <a:ln/>
        </p:spPr>
      </p:sp>
      <p:sp>
        <p:nvSpPr>
          <p:cNvPr id="33" name="Shape 31"/>
          <p:cNvSpPr/>
          <p:nvPr/>
        </p:nvSpPr>
        <p:spPr>
          <a:xfrm>
            <a:off x="8394192" y="1444752"/>
            <a:ext cx="1801368" cy="137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4" name="Text 32"/>
          <p:cNvSpPr/>
          <p:nvPr/>
        </p:nvSpPr>
        <p:spPr>
          <a:xfrm>
            <a:off x="8467344" y="11704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Réponse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67344" y="1627632"/>
            <a:ext cx="164592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{prediction:{...},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recommended_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products:[...]}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195560" y="3657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378440" y="1170432"/>
            <a:ext cx="1801368" cy="5230368"/>
          </a:xfrm>
          <a:prstGeom prst="rect">
            <a:avLst>
              <a:gd name="adj" fmla="val 6091"/>
            </a:avLst>
          </a:prstGeom>
          <a:solidFill>
            <a:srgbClr val="EBF2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378440" y="1170432"/>
            <a:ext cx="1801368" cy="411480"/>
          </a:xfrm>
          <a:prstGeom prst="rect">
            <a:avLst>
              <a:gd name="adj" fmla="val 26667"/>
            </a:avLst>
          </a:prstGeom>
          <a:solidFill>
            <a:srgbClr val="E74C3C"/>
          </a:solidFill>
          <a:ln/>
        </p:spPr>
      </p:sp>
      <p:sp>
        <p:nvSpPr>
          <p:cNvPr id="39" name="Shape 37"/>
          <p:cNvSpPr/>
          <p:nvPr/>
        </p:nvSpPr>
        <p:spPr>
          <a:xfrm>
            <a:off x="10378440" y="1444752"/>
            <a:ext cx="1801368" cy="1371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0" name="Text 38"/>
          <p:cNvSpPr/>
          <p:nvPr/>
        </p:nvSpPr>
        <p:spPr>
          <a:xfrm>
            <a:off x="10451592" y="11704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Affichage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451592" y="1627632"/>
            <a:ext cx="164592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createCard(p)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injecté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actif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3152"/>
            <a:ext cx="548640" cy="1005840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Recommandations — Application réelle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56692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14,5€ · Lundi · 35°C → Plats végétariens recommandés par le Random Forest</a:t>
            </a:r>
            <a:endParaRPr lang="en-US" sz="1300" dirty="0"/>
          </a:p>
        </p:txBody>
      </p:sp>
      <p:pic>
        <p:nvPicPr>
          <p:cNvPr id="8" name="Image 0" descr="C:/Users/MonPC/AppData/Local/Temp/claude/C--Users-MonPC-Desktop-projet-PFE/b07ff7f2-83d3-4613-9f00-5da48a17a6dd/scratchpad/screen_recommand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207008"/>
            <a:ext cx="11384280" cy="52852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16/30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mascotte robot — Dessinée en code HTML pur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d'image externe — le SVG est écrit directement dans le HTML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394960" cy="5230368"/>
          </a:xfrm>
          <a:prstGeom prst="rect">
            <a:avLst>
              <a:gd name="adj" fmla="val 2098"/>
            </a:avLst>
          </a:prstGeom>
          <a:solidFill>
            <a:srgbClr val="E8F7F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70432"/>
            <a:ext cx="5394960" cy="475488"/>
          </a:xfrm>
          <a:prstGeom prst="rect">
            <a:avLst>
              <a:gd name="adj" fmla="val 23077"/>
            </a:avLst>
          </a:prstGeom>
          <a:solidFill>
            <a:srgbClr val="12B8B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499616"/>
            <a:ext cx="5394960" cy="14630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170432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Le robot — dessiné en SVG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178308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= image faite en code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d'un fichier image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robot est écrit directement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HTML en quelques lignes.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parties du robot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Corps  : rectangle vert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Tête   : cercle + yeux + sourire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Bras   : 2 petits rectangles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Main   : cercle orange (un plat)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4663440"/>
            <a:ext cx="5120640" cy="1554480"/>
          </a:xfrm>
          <a:prstGeom prst="rect">
            <a:avLst>
              <a:gd name="adj" fmla="val 4706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773168"/>
            <a:ext cx="475488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&lt;circle cx="60" cy="30" r="20" fill="#4CAF50"/&gt; &lt;!-- tête --&gt;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&lt;rect x="35" y="50" width="50" height="40" fill="#4CAF50"/&gt; &lt;!-- corps --&gt;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&lt;circle cx="100" cy="55" r="8" fill="#FF9800"/&gt;     &lt;!-- plat --&gt;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53328" y="1170432"/>
            <a:ext cx="5687568" cy="5230368"/>
          </a:xfrm>
          <a:prstGeom prst="rect">
            <a:avLst>
              <a:gd name="adj" fmla="val 2098"/>
            </a:avLst>
          </a:prstGeom>
          <a:solidFill>
            <a:srgbClr val="EBF2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170432"/>
            <a:ext cx="5687568" cy="475488"/>
          </a:xfrm>
          <a:prstGeom prst="rect">
            <a:avLst>
              <a:gd name="adj" fmla="val 23077"/>
            </a:avLst>
          </a:prstGeom>
          <a:solidFill>
            <a:srgbClr val="3A7E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053328" y="1499616"/>
            <a:ext cx="5687568" cy="146304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17" name="Text 15"/>
          <p:cNvSpPr/>
          <p:nvPr/>
        </p:nvSpPr>
        <p:spPr>
          <a:xfrm>
            <a:off x="6190488" y="1170432"/>
            <a:ext cx="5413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Pourquoi ce robot 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0488" y="1783080"/>
            <a:ext cx="5413248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robot dit au client 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"Je peux vous aider à trouver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plats selon votre budget."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du robot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Rendre l'IA moins abstraite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Donner un visage au modèle 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Améliorer l'expérience client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jury retient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du CODE qui dessine le robot,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une image téléchargée.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= images programmatiques.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17/30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&amp; Panier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Gestion du panier avec quantités +/− et persistance localStorage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Formulaire client (nom + téléphone) → validation commande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68496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Ticket de commande avec numéro unique — imprimable via @media print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18/30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panier — 4 actions simples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bouton dans la page appelle une de ces 4 fonctions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2697480" cy="5230368"/>
          </a:xfrm>
          <a:prstGeom prst="rect">
            <a:avLst>
              <a:gd name="adj" fmla="val 4068"/>
            </a:avLst>
          </a:prstGeom>
          <a:solidFill>
            <a:srgbClr val="E8F7F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170432"/>
            <a:ext cx="2697480" cy="475488"/>
          </a:xfrm>
          <a:prstGeom prst="rect">
            <a:avLst>
              <a:gd name="adj" fmla="val 23077"/>
            </a:avLst>
          </a:prstGeom>
          <a:solidFill>
            <a:srgbClr val="12B8B0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499616"/>
            <a:ext cx="2697480" cy="14630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7043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Ajouter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2514600" cy="658368"/>
          </a:xfrm>
          <a:prstGeom prst="rect">
            <a:avLst>
              <a:gd name="adj" fmla="val 11111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783080"/>
            <a:ext cx="23682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addToCart(id)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560320"/>
            <a:ext cx="247802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l'article 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là : +1 quantité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 : nouvel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ajouté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cliquer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"Ajouter" sur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plat du menu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63240" y="3474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1170432"/>
            <a:ext cx="2697480" cy="5230368"/>
          </a:xfrm>
          <a:prstGeom prst="rect">
            <a:avLst>
              <a:gd name="adj" fmla="val 4068"/>
            </a:avLst>
          </a:prstGeom>
          <a:solidFill>
            <a:srgbClr val="EBF2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6120" y="1170432"/>
            <a:ext cx="2697480" cy="475488"/>
          </a:xfrm>
          <a:prstGeom prst="rect">
            <a:avLst>
              <a:gd name="adj" fmla="val 23077"/>
            </a:avLst>
          </a:prstGeom>
          <a:solidFill>
            <a:srgbClr val="3A7E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246120" y="1499616"/>
            <a:ext cx="2697480" cy="146304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117043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Modifier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37560" y="1783080"/>
            <a:ext cx="2514600" cy="658368"/>
          </a:xfrm>
          <a:prstGeom prst="rect">
            <a:avLst>
              <a:gd name="adj" fmla="val 11111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1783080"/>
            <a:ext cx="23682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updateQty(id, +1/-1)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2560320"/>
            <a:ext cx="247802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+ → +1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− → −1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quantité =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article supprimé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automatiquement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les boutons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+/− dans le panier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3474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1170432"/>
            <a:ext cx="2697480" cy="5230368"/>
          </a:xfrm>
          <a:prstGeom prst="rect">
            <a:avLst>
              <a:gd name="adj" fmla="val 4068"/>
            </a:avLst>
          </a:prstGeom>
          <a:solidFill>
            <a:srgbClr val="FFF3E0"/>
          </a:solidFill>
          <a:ln/>
        </p:spPr>
      </p:sp>
      <p:sp>
        <p:nvSpPr>
          <p:cNvPr id="24" name="Shape 22"/>
          <p:cNvSpPr/>
          <p:nvPr/>
        </p:nvSpPr>
        <p:spPr>
          <a:xfrm>
            <a:off x="6126480" y="1170432"/>
            <a:ext cx="2697480" cy="475488"/>
          </a:xfrm>
          <a:prstGeom prst="rect">
            <a:avLst>
              <a:gd name="adj" fmla="val 23077"/>
            </a:avLst>
          </a:prstGeom>
          <a:solidFill>
            <a:srgbClr val="E67E22"/>
          </a:solidFill>
          <a:ln/>
        </p:spPr>
      </p:sp>
      <p:sp>
        <p:nvSpPr>
          <p:cNvPr id="25" name="Shape 23"/>
          <p:cNvSpPr/>
          <p:nvPr/>
        </p:nvSpPr>
        <p:spPr>
          <a:xfrm>
            <a:off x="6126480" y="1499616"/>
            <a:ext cx="2697480" cy="14630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17043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Supprimer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17920" y="1783080"/>
            <a:ext cx="2514600" cy="658368"/>
          </a:xfrm>
          <a:prstGeom prst="rect">
            <a:avLst>
              <a:gd name="adj" fmla="val 11111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1783080"/>
            <a:ext cx="23682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removeFromCart(id)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6208" y="2560320"/>
            <a:ext cx="247802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.filter() garde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articles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SAUF celui-ci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cliquer la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croix ✕ sur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article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823960" y="3474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006840" y="1170432"/>
            <a:ext cx="2697480" cy="5230368"/>
          </a:xfrm>
          <a:prstGeom prst="rect">
            <a:avLst>
              <a:gd name="adj" fmla="val 4068"/>
            </a:avLst>
          </a:prstGeom>
          <a:solidFill>
            <a:srgbClr val="F5F0FF"/>
          </a:solidFill>
          <a:ln/>
        </p:spPr>
      </p:sp>
      <p:sp>
        <p:nvSpPr>
          <p:cNvPr id="32" name="Shape 30"/>
          <p:cNvSpPr/>
          <p:nvPr/>
        </p:nvSpPr>
        <p:spPr>
          <a:xfrm>
            <a:off x="9006840" y="1170432"/>
            <a:ext cx="2697480" cy="475488"/>
          </a:xfrm>
          <a:prstGeom prst="rect">
            <a:avLst>
              <a:gd name="adj" fmla="val 23077"/>
            </a:avLst>
          </a:prstGeom>
          <a:solidFill>
            <a:srgbClr val="8064A2"/>
          </a:solidFill>
          <a:ln/>
        </p:spPr>
      </p:sp>
      <p:sp>
        <p:nvSpPr>
          <p:cNvPr id="33" name="Shape 31"/>
          <p:cNvSpPr/>
          <p:nvPr/>
        </p:nvSpPr>
        <p:spPr>
          <a:xfrm>
            <a:off x="9006840" y="1499616"/>
            <a:ext cx="2697480" cy="146304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34" name="Text 32"/>
          <p:cNvSpPr/>
          <p:nvPr/>
        </p:nvSpPr>
        <p:spPr>
          <a:xfrm>
            <a:off x="9098280" y="117043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Sauvegarder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098280" y="1783080"/>
            <a:ext cx="2514600" cy="658368"/>
          </a:xfrm>
          <a:prstGeom prst="rect">
            <a:avLst>
              <a:gd name="adj" fmla="val 11111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71432" y="1783080"/>
            <a:ext cx="23682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saveCart()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16568" y="2560320"/>
            <a:ext cx="247802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Convertit le panier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texte JSON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→ reste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si on ferme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navigateur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Appelée après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6473952"/>
            <a:ext cx="11640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ces fonctions se terminent par saveCart() — les données du panier survivent même si on ferme le navigateur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19/30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3152"/>
            <a:ext cx="548640" cy="10058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Panier — Application réelle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56692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articles · Quantités modifiables +/− · Total 60€ calculé automatiquement</a:t>
            </a:r>
            <a:endParaRPr lang="en-US" sz="1300" dirty="0"/>
          </a:p>
        </p:txBody>
      </p:sp>
      <p:pic>
        <p:nvPicPr>
          <p:cNvPr id="8" name="Image 0" descr="C:/Users/MonPC/AppData/Local/Temp/claude/C--Users-MonPC-Desktop-projet-PFE/b07ff7f2-83d3-4613-9f00-5da48a17a6dd/scratchpad/screen_pan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207008"/>
            <a:ext cx="11384280" cy="52852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20/30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— Comment la commande est finalisée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choses simples : saisie client → numéro unique → ticket + panier vidé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3429000" cy="5230368"/>
          </a:xfrm>
          <a:prstGeom prst="rect">
            <a:avLst>
              <a:gd name="adj" fmla="val 3200"/>
            </a:avLst>
          </a:prstGeom>
          <a:solidFill>
            <a:srgbClr val="E8F7F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70432"/>
            <a:ext cx="3429000" cy="475488"/>
          </a:xfrm>
          <a:prstGeom prst="rect">
            <a:avLst>
              <a:gd name="adj" fmla="val 23077"/>
            </a:avLst>
          </a:prstGeom>
          <a:solidFill>
            <a:srgbClr val="12B8B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499616"/>
            <a:ext cx="3429000" cy="14630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170432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Ce que le client saisit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17830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2148840"/>
            <a:ext cx="3154680" cy="502920"/>
          </a:xfrm>
          <a:prstGeom prst="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1488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27432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 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108960"/>
            <a:ext cx="3154680" cy="502920"/>
          </a:xfrm>
          <a:prstGeom prst="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1089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06 12 34 56 78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3749040"/>
            <a:ext cx="3154680" cy="566928"/>
          </a:xfrm>
          <a:prstGeom prst="rect">
            <a:avLst>
              <a:gd name="adj" fmla="val 16129"/>
            </a:avLst>
          </a:prstGeom>
          <a:solidFill>
            <a:srgbClr val="12B8B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749040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44348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Formulaire vérifié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Commande créée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77640" y="3657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663440" y="1170432"/>
            <a:ext cx="3429000" cy="5230368"/>
          </a:xfrm>
          <a:prstGeom prst="rect">
            <a:avLst>
              <a:gd name="adj" fmla="val 3200"/>
            </a:avLst>
          </a:prstGeom>
          <a:solidFill>
            <a:srgbClr val="EBF2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1170432"/>
            <a:ext cx="3429000" cy="475488"/>
          </a:xfrm>
          <a:prstGeom prst="rect">
            <a:avLst>
              <a:gd name="adj" fmla="val 23077"/>
            </a:avLst>
          </a:prstGeom>
          <a:solidFill>
            <a:srgbClr val="3A7E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1499616"/>
            <a:ext cx="3429000" cy="146304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1170432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Génération du numéro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1773936"/>
            <a:ext cx="3246120" cy="1783080"/>
          </a:xfrm>
          <a:prstGeom prst="rect">
            <a:avLst>
              <a:gd name="adj" fmla="val 4103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883664"/>
            <a:ext cx="2880360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"#" + Math.random()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.toString(36)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.substr(2, 9)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.toUpperCase()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639312"/>
            <a:ext cx="3246120" cy="621792"/>
          </a:xfrm>
          <a:prstGeom prst="rect">
            <a:avLst>
              <a:gd name="adj" fmla="val 14706"/>
            </a:avLst>
          </a:prstGeom>
          <a:solidFill>
            <a:srgbClr val="0E1B2A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63931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#A3B7X9K2M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00600" y="4343400"/>
            <a:ext cx="31546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Math.random() → nombre aléatoire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toString(36) → lettres + chiffres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toUpperCase() → majuscules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commande a un numéro UNIQUE.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Imposisble d'avoir 2 fois le même.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83880" y="3657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31" name="Shape 29"/>
          <p:cNvSpPr/>
          <p:nvPr/>
        </p:nvSpPr>
        <p:spPr>
          <a:xfrm>
            <a:off x="8887968" y="1170432"/>
            <a:ext cx="2834640" cy="5230368"/>
          </a:xfrm>
          <a:prstGeom prst="rect">
            <a:avLst>
              <a:gd name="adj" fmla="val 3871"/>
            </a:avLst>
          </a:prstGeom>
          <a:solidFill>
            <a:srgbClr val="FFF3E0"/>
          </a:solidFill>
          <a:ln/>
        </p:spPr>
      </p:sp>
      <p:sp>
        <p:nvSpPr>
          <p:cNvPr id="32" name="Shape 30"/>
          <p:cNvSpPr/>
          <p:nvPr/>
        </p:nvSpPr>
        <p:spPr>
          <a:xfrm>
            <a:off x="8887968" y="1170432"/>
            <a:ext cx="2834640" cy="475488"/>
          </a:xfrm>
          <a:prstGeom prst="rect">
            <a:avLst>
              <a:gd name="adj" fmla="val 23077"/>
            </a:avLst>
          </a:prstGeom>
          <a:solidFill>
            <a:srgbClr val="E67E22"/>
          </a:solidFill>
          <a:ln/>
        </p:spPr>
      </p:sp>
      <p:sp>
        <p:nvSpPr>
          <p:cNvPr id="33" name="Shape 31"/>
          <p:cNvSpPr/>
          <p:nvPr/>
        </p:nvSpPr>
        <p:spPr>
          <a:xfrm>
            <a:off x="8887968" y="1499616"/>
            <a:ext cx="2834640" cy="14630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4" name="Text 32"/>
          <p:cNvSpPr/>
          <p:nvPr/>
        </p:nvSpPr>
        <p:spPr>
          <a:xfrm>
            <a:off x="9025128" y="117043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Ce qui se passe après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979408" y="1783080"/>
            <a:ext cx="2651760" cy="1371600"/>
          </a:xfrm>
          <a:prstGeom prst="rect">
            <a:avLst>
              <a:gd name="adj" fmla="val 5333"/>
            </a:avLst>
          </a:prstGeom>
          <a:solidFill>
            <a:srgbClr val="FFF8F0"/>
          </a:solidFill>
          <a:ln w="12700">
            <a:solidFill>
              <a:srgbClr val="FFDAB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79408" y="1783080"/>
            <a:ext cx="2651760" cy="365760"/>
          </a:xfrm>
          <a:prstGeom prst="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37" name="Shape 35"/>
          <p:cNvSpPr/>
          <p:nvPr/>
        </p:nvSpPr>
        <p:spPr>
          <a:xfrm>
            <a:off x="8979408" y="2039112"/>
            <a:ext cx="2651760" cy="1097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8" name="Text 36"/>
          <p:cNvSpPr/>
          <p:nvPr/>
        </p:nvSpPr>
        <p:spPr>
          <a:xfrm>
            <a:off x="9070848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affiché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070848" y="21945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Ahmed 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#A3B7X9K2M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+ total + date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979408" y="3291840"/>
            <a:ext cx="2651760" cy="1371600"/>
          </a:xfrm>
          <a:prstGeom prst="rect">
            <a:avLst>
              <a:gd name="adj" fmla="val 5333"/>
            </a:avLst>
          </a:prstGeom>
          <a:solidFill>
            <a:srgbClr val="FFF8F0"/>
          </a:solidFill>
          <a:ln w="12700">
            <a:solidFill>
              <a:srgbClr val="FFDAB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79408" y="3291840"/>
            <a:ext cx="2651760" cy="365760"/>
          </a:xfrm>
          <a:prstGeom prst="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42" name="Shape 40"/>
          <p:cNvSpPr/>
          <p:nvPr/>
        </p:nvSpPr>
        <p:spPr>
          <a:xfrm>
            <a:off x="8979408" y="3547872"/>
            <a:ext cx="2651760" cy="1097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3" name="Text 41"/>
          <p:cNvSpPr/>
          <p:nvPr/>
        </p:nvSpPr>
        <p:spPr>
          <a:xfrm>
            <a:off x="9070848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vidé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070848" y="37033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state.cart = []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saveCart()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d'articles en attente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979408" y="4800600"/>
            <a:ext cx="2651760" cy="1371600"/>
          </a:xfrm>
          <a:prstGeom prst="rect">
            <a:avLst>
              <a:gd name="adj" fmla="val 5333"/>
            </a:avLst>
          </a:prstGeom>
          <a:solidFill>
            <a:srgbClr val="FFF8F0"/>
          </a:solidFill>
          <a:ln w="12700">
            <a:solidFill>
              <a:srgbClr val="FFDAB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79408" y="4800600"/>
            <a:ext cx="2651760" cy="365760"/>
          </a:xfrm>
          <a:prstGeom prst="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47" name="Shape 45"/>
          <p:cNvSpPr/>
          <p:nvPr/>
        </p:nvSpPr>
        <p:spPr>
          <a:xfrm>
            <a:off x="8979408" y="5056632"/>
            <a:ext cx="2651760" cy="1097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8" name="Text 46"/>
          <p:cNvSpPr/>
          <p:nvPr/>
        </p:nvSpPr>
        <p:spPr>
          <a:xfrm>
            <a:off x="9070848" y="4800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changée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070848" y="5212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showPage("confirmation")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voit son ticket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peut l'imprimer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21/30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commande client — 5 étapes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recommandation à la confirmation imprimable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2148840" cy="5230368"/>
          </a:xfrm>
          <a:prstGeom prst="rect">
            <a:avLst>
              <a:gd name="adj" fmla="val 5106"/>
            </a:avLst>
          </a:prstGeom>
          <a:solidFill>
            <a:srgbClr val="E8F7F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70432"/>
            <a:ext cx="2148840" cy="411480"/>
          </a:xfrm>
          <a:prstGeom prst="rect">
            <a:avLst>
              <a:gd name="adj" fmla="val 26667"/>
            </a:avLst>
          </a:prstGeom>
          <a:solidFill>
            <a:srgbClr val="12B8B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444752"/>
            <a:ext cx="2148840" cy="137160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7043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19659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recommande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catégorie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"Grill"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32004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88920" y="1170432"/>
            <a:ext cx="2148840" cy="5230368"/>
          </a:xfrm>
          <a:prstGeom prst="rect">
            <a:avLst>
              <a:gd name="adj" fmla="val 5106"/>
            </a:avLst>
          </a:prstGeom>
          <a:solidFill>
            <a:srgbClr val="EBF2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788920" y="1170432"/>
            <a:ext cx="2148840" cy="411480"/>
          </a:xfrm>
          <a:prstGeom prst="rect">
            <a:avLst>
              <a:gd name="adj" fmla="val 26667"/>
            </a:avLst>
          </a:prstGeom>
          <a:solidFill>
            <a:srgbClr val="3A7E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788920" y="1444752"/>
            <a:ext cx="2148840" cy="137160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16" name="Text 14"/>
          <p:cNvSpPr/>
          <p:nvPr/>
        </p:nvSpPr>
        <p:spPr>
          <a:xfrm>
            <a:off x="2880360" y="117043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panier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80360" y="1691640"/>
            <a:ext cx="19659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addToCart(id)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quantité++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2004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20640" y="1170432"/>
            <a:ext cx="2148840" cy="5230368"/>
          </a:xfrm>
          <a:prstGeom prst="rect">
            <a:avLst>
              <a:gd name="adj" fmla="val 5106"/>
            </a:avLst>
          </a:prstGeom>
          <a:solidFill>
            <a:srgbClr val="E8F7F6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1170432"/>
            <a:ext cx="2148840" cy="411480"/>
          </a:xfrm>
          <a:prstGeom prst="rect">
            <a:avLst>
              <a:gd name="adj" fmla="val 26667"/>
            </a:avLst>
          </a:prstGeom>
          <a:solidFill>
            <a:srgbClr val="8064A2"/>
          </a:solidFill>
          <a:ln/>
        </p:spPr>
      </p:sp>
      <p:sp>
        <p:nvSpPr>
          <p:cNvPr id="21" name="Shape 19"/>
          <p:cNvSpPr/>
          <p:nvPr/>
        </p:nvSpPr>
        <p:spPr>
          <a:xfrm>
            <a:off x="5120640" y="1444752"/>
            <a:ext cx="2148840" cy="137160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117043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1691640"/>
            <a:ext cx="19659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+ téléphone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69480" y="32004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52360" y="1170432"/>
            <a:ext cx="2148840" cy="5230368"/>
          </a:xfrm>
          <a:prstGeom prst="rect">
            <a:avLst>
              <a:gd name="adj" fmla="val 5106"/>
            </a:avLst>
          </a:prstGeom>
          <a:solidFill>
            <a:srgbClr val="EBF2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452360" y="1170432"/>
            <a:ext cx="2148840" cy="411480"/>
          </a:xfrm>
          <a:prstGeom prst="rect">
            <a:avLst>
              <a:gd name="adj" fmla="val 26667"/>
            </a:avLst>
          </a:prstGeom>
          <a:solidFill>
            <a:srgbClr val="E67E22"/>
          </a:solidFill>
          <a:ln/>
        </p:spPr>
      </p:sp>
      <p:sp>
        <p:nvSpPr>
          <p:cNvPr id="27" name="Shape 25"/>
          <p:cNvSpPr/>
          <p:nvPr/>
        </p:nvSpPr>
        <p:spPr>
          <a:xfrm>
            <a:off x="7452360" y="1444752"/>
            <a:ext cx="2148840" cy="1371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7543800" y="117043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43800" y="1691640"/>
            <a:ext cx="19659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#RANDOM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(€)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date/heure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0" y="32004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784080" y="1170432"/>
            <a:ext cx="2148840" cy="5230368"/>
          </a:xfrm>
          <a:prstGeom prst="rect">
            <a:avLst>
              <a:gd name="adj" fmla="val 5106"/>
            </a:avLst>
          </a:prstGeom>
          <a:solidFill>
            <a:srgbClr val="E8F7F6"/>
          </a:solidFill>
          <a:ln/>
        </p:spPr>
      </p:sp>
      <p:sp>
        <p:nvSpPr>
          <p:cNvPr id="32" name="Shape 30"/>
          <p:cNvSpPr/>
          <p:nvPr/>
        </p:nvSpPr>
        <p:spPr>
          <a:xfrm>
            <a:off x="9784080" y="1170432"/>
            <a:ext cx="2148840" cy="411480"/>
          </a:xfrm>
          <a:prstGeom prst="rect">
            <a:avLst>
              <a:gd name="adj" fmla="val 26667"/>
            </a:avLst>
          </a:prstGeom>
          <a:solidFill>
            <a:srgbClr val="27AE60"/>
          </a:solidFill>
          <a:ln/>
        </p:spPr>
      </p:sp>
      <p:sp>
        <p:nvSpPr>
          <p:cNvPr id="33" name="Shape 31"/>
          <p:cNvSpPr/>
          <p:nvPr/>
        </p:nvSpPr>
        <p:spPr>
          <a:xfrm>
            <a:off x="9784080" y="1444752"/>
            <a:ext cx="2148840" cy="137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4" name="Text 32"/>
          <p:cNvSpPr/>
          <p:nvPr/>
        </p:nvSpPr>
        <p:spPr>
          <a:xfrm>
            <a:off x="9875520" y="117043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75520" y="1691640"/>
            <a:ext cx="19659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@media print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navbar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🖨️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clients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Page dédiée aux avis clients — formulaire GET/POST /api/reviews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Affichage dynamique des avis avec note /10 et date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68496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Panneau admin (admin.html) — suivi des commandes et avis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23/30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clients — Comment ça marche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formulaire → 1 appel API → liste mise à jour automatiquement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3611880" cy="3291840"/>
          </a:xfrm>
          <a:prstGeom prst="rect">
            <a:avLst>
              <a:gd name="adj" fmla="val 3333"/>
            </a:avLst>
          </a:prstGeom>
          <a:solidFill>
            <a:srgbClr val="E8F7F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170432"/>
            <a:ext cx="3611880" cy="475488"/>
          </a:xfrm>
          <a:prstGeom prst="rect">
            <a:avLst>
              <a:gd name="adj" fmla="val 23077"/>
            </a:avLst>
          </a:prstGeom>
          <a:solidFill>
            <a:srgbClr val="27AE60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499616"/>
            <a:ext cx="3611880" cy="14630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70432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Le client remplit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755648"/>
            <a:ext cx="3337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/10  (ex : 8)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clique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"Envoyer mon avis"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lit les 3 champs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prépare les données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7764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160520" y="1170432"/>
            <a:ext cx="3611880" cy="3291840"/>
          </a:xfrm>
          <a:prstGeom prst="rect">
            <a:avLst>
              <a:gd name="adj" fmla="val 3333"/>
            </a:avLst>
          </a:prstGeom>
          <a:solidFill>
            <a:srgbClr val="EBF2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160520" y="1170432"/>
            <a:ext cx="3611880" cy="475488"/>
          </a:xfrm>
          <a:prstGeom prst="rect">
            <a:avLst>
              <a:gd name="adj" fmla="val 23077"/>
            </a:avLst>
          </a:prstGeom>
          <a:solidFill>
            <a:srgbClr val="8064A2"/>
          </a:solidFill>
          <a:ln/>
        </p:spPr>
      </p:sp>
      <p:sp>
        <p:nvSpPr>
          <p:cNvPr id="15" name="Shape 13"/>
          <p:cNvSpPr/>
          <p:nvPr/>
        </p:nvSpPr>
        <p:spPr>
          <a:xfrm>
            <a:off x="4160520" y="1499616"/>
            <a:ext cx="3611880" cy="146304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1170432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L'app envoie à Flask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1755648"/>
            <a:ext cx="3337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fetch("POST")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/api/reviews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envoyées 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commentaire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reçoit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stocke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955280" y="1170432"/>
            <a:ext cx="3611880" cy="3291840"/>
          </a:xfrm>
          <a:prstGeom prst="rect">
            <a:avLst>
              <a:gd name="adj" fmla="val 3333"/>
            </a:avLst>
          </a:prstGeom>
          <a:solidFill>
            <a:srgbClr val="E8F7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0" y="1170432"/>
            <a:ext cx="3611880" cy="475488"/>
          </a:xfrm>
          <a:prstGeom prst="rect">
            <a:avLst>
              <a:gd name="adj" fmla="val 23077"/>
            </a:avLst>
          </a:prstGeom>
          <a:solidFill>
            <a:srgbClr val="12B8B0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499616"/>
            <a:ext cx="3611880" cy="14630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1170432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Liste mise à jour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92440" y="1755648"/>
            <a:ext cx="3337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loadReviews()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/api/reviews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 avis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apparaît en haut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vidé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automatiquement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: si Flask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répond pas,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ne plante pas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599432"/>
            <a:ext cx="6812280" cy="1984248"/>
          </a:xfrm>
          <a:prstGeom prst="rect">
            <a:avLst>
              <a:gd name="adj" fmla="val 3687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709160"/>
            <a:ext cx="6446520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response = await fetch("/api/reviews",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method: "POST",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headers: { "Content-Type": "application/json"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  JSON.stringify({ name, rating, comment })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(response.ok) { reviewForm.reset(); loadReviews(); }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0" y="4599432"/>
            <a:ext cx="4416552" cy="1984248"/>
          </a:xfrm>
          <a:prstGeom prst="rect">
            <a:avLst>
              <a:gd name="adj" fmla="val 4608"/>
            </a:avLst>
          </a:prstGeom>
          <a:solidFill>
            <a:srgbClr val="EBF2FF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0" y="4599432"/>
            <a:ext cx="4416552" cy="411480"/>
          </a:xfrm>
          <a:prstGeom prst="rect">
            <a:avLst>
              <a:gd name="adj" fmla="val 22222"/>
            </a:avLst>
          </a:prstGeom>
          <a:solidFill>
            <a:srgbClr val="8064A2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0" y="4901184"/>
            <a:ext cx="4416552" cy="109728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29" name="Text 27"/>
          <p:cNvSpPr/>
          <p:nvPr/>
        </p:nvSpPr>
        <p:spPr>
          <a:xfrm>
            <a:off x="7452360" y="4599432"/>
            <a:ext cx="4142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fait ce code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52360" y="5074920"/>
            <a:ext cx="41422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Envoie nom + note + commentaire à Flask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Flask répond OK → formulaire vidé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loadReviews() recharge la liste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try/catch : si Flask ne répond pas, l'app ne plante pas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6473952"/>
            <a:ext cx="11640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principe que les recommandations : formulaire → fetch POST → réponse Flask → affichage mis à jour automatiquement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24/30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3152"/>
            <a:ext cx="548640" cy="10058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Avis clients — Application réelle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56692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: nom · note /10 · commentaire · bouton "Envoyer mon avis"</a:t>
            </a:r>
            <a:endParaRPr lang="en-US" sz="1300" dirty="0"/>
          </a:p>
        </p:txBody>
      </p:sp>
      <p:pic>
        <p:nvPicPr>
          <p:cNvPr id="8" name="Image 0" descr="C:/Users/MonPC/AppData/Local/Temp/claude/C--Users-MonPC-Desktop-projet-PFE/b07ff7f2-83d3-4613-9f00-5da48a17a6dd/scratchpad/screen_av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207008"/>
            <a:ext cx="11384280" cy="52852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25/30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d'administration — admin.html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 gestion séparée du frontend client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00" cy="5230368"/>
          </a:xfrm>
          <a:prstGeom prst="rect">
            <a:avLst>
              <a:gd name="adj" fmla="val 2098"/>
            </a:avLst>
          </a:prstGeom>
          <a:solidFill>
            <a:srgbClr val="E8F7F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716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admin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764792"/>
            <a:ext cx="5029200" cy="4453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sur /admin.html 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Vue des produits du menu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Suivi des avis clients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Connexion à la même API Flask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(port 5000)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Différenciation client/admin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 client voit : index.html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L'admin voit : admin.html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Même backend Flask partagé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Non implémentée (hors scope PFE)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Suggérée comme amélioration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44768" y="1170432"/>
            <a:ext cx="5486400" cy="5230368"/>
          </a:xfrm>
          <a:prstGeom prst="rect">
            <a:avLst>
              <a:gd name="adj" fmla="val 2098"/>
            </a:avLst>
          </a:prstGeom>
          <a:solidFill>
            <a:srgbClr val="EBF2FF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3716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déploiement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73368" y="1764792"/>
            <a:ext cx="5029200" cy="4453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développement (local)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python src/app.py → port 5000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http://localhost:5000/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Flask sert index.html + API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production (Docker)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Dockerfile build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Port 5000 exposé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docker run -p 5000:5000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statiques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Flask serve_file() → index.html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Images PNG dans /images/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CSS + JS dans /frontend/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complète du système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globale des 4 présentations assemblées en un produit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11274552" cy="1207008"/>
          </a:xfrm>
          <a:prstGeom prst="rect">
            <a:avLst>
              <a:gd name="adj" fmla="val 9091"/>
            </a:avLst>
          </a:prstGeom>
          <a:solidFill>
            <a:srgbClr val="DCE3E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70432"/>
            <a:ext cx="1371600" cy="1207008"/>
          </a:xfrm>
          <a:prstGeom prst="rect">
            <a:avLst>
              <a:gd name="adj" fmla="val 9091"/>
            </a:avLst>
          </a:prstGeom>
          <a:solidFill>
            <a:srgbClr val="12B8B0"/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1170432"/>
            <a:ext cx="365760" cy="1207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170432"/>
            <a:ext cx="13258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13075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(Présentation 2)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167335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bruts → nettoyage → menu_final_clean.csv · 1 028 commandes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2377440"/>
            <a:ext cx="5486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496312"/>
            <a:ext cx="11274552" cy="1207008"/>
          </a:xfrm>
          <a:prstGeom prst="rect">
            <a:avLst>
              <a:gd name="adj" fmla="val 9091"/>
            </a:avLst>
          </a:prstGeom>
          <a:solidFill>
            <a:srgbClr val="E8F7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496312"/>
            <a:ext cx="1371600" cy="1207008"/>
          </a:xfrm>
          <a:prstGeom prst="rect">
            <a:avLst>
              <a:gd name="adj" fmla="val 9091"/>
            </a:avLst>
          </a:prstGeom>
          <a:solidFill>
            <a:srgbClr val="12B8B0"/>
          </a:solidFill>
          <a:ln/>
        </p:spPr>
      </p:sp>
      <p:sp>
        <p:nvSpPr>
          <p:cNvPr id="16" name="Shape 14"/>
          <p:cNvSpPr/>
          <p:nvPr/>
        </p:nvSpPr>
        <p:spPr>
          <a:xfrm>
            <a:off x="1463040" y="2496312"/>
            <a:ext cx="365760" cy="1207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496312"/>
            <a:ext cx="13258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26334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(Présentation 3)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20240" y="299923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90.52% · 4 features · best_model_v3_mois_jour.pkl · 0.35s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0" y="3703320"/>
            <a:ext cx="5486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22192"/>
            <a:ext cx="11274552" cy="1207008"/>
          </a:xfrm>
          <a:prstGeom prst="rect">
            <a:avLst>
              <a:gd name="adj" fmla="val 9091"/>
            </a:avLst>
          </a:prstGeom>
          <a:solidFill>
            <a:srgbClr val="EBF2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822192"/>
            <a:ext cx="1371600" cy="1207008"/>
          </a:xfrm>
          <a:prstGeom prst="rect">
            <a:avLst>
              <a:gd name="adj" fmla="val 9091"/>
            </a:avLst>
          </a:prstGeom>
          <a:solidFill>
            <a:srgbClr val="12B8B0"/>
          </a:solidFill>
          <a:ln/>
        </p:spPr>
      </p:sp>
      <p:sp>
        <p:nvSpPr>
          <p:cNvPr id="23" name="Shape 21"/>
          <p:cNvSpPr/>
          <p:nvPr/>
        </p:nvSpPr>
        <p:spPr>
          <a:xfrm>
            <a:off x="1463040" y="3822192"/>
            <a:ext cx="365760" cy="1207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822192"/>
            <a:ext cx="13258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20240" y="39593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(Présentation 4)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920240" y="432511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10 endpoints · Blueprint · CORS · POST /predict · POST /api/recommendations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0" y="5029200"/>
            <a:ext cx="5486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148072"/>
            <a:ext cx="11274552" cy="1207008"/>
          </a:xfrm>
          <a:prstGeom prst="rect">
            <a:avLst>
              <a:gd name="adj" fmla="val 9091"/>
            </a:avLst>
          </a:prstGeom>
          <a:solidFill>
            <a:srgbClr val="E8F7F6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148072"/>
            <a:ext cx="1371600" cy="1207008"/>
          </a:xfrm>
          <a:prstGeom prst="rect">
            <a:avLst>
              <a:gd name="adj" fmla="val 9091"/>
            </a:avLst>
          </a:prstGeom>
          <a:solidFill>
            <a:srgbClr val="12B8B0"/>
          </a:solidFill>
          <a:ln/>
        </p:spPr>
      </p:sp>
      <p:sp>
        <p:nvSpPr>
          <p:cNvPr id="30" name="Shape 28"/>
          <p:cNvSpPr/>
          <p:nvPr/>
        </p:nvSpPr>
        <p:spPr>
          <a:xfrm>
            <a:off x="1463040" y="5148072"/>
            <a:ext cx="365760" cy="1207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5148072"/>
            <a:ext cx="13258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920240" y="52852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(Présentation 5)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920240" y="565099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pages SPA · Vanilla JS · fetch() · Panier · Commande · Avis · Admin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27/30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Bilan PFE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Synthétiser les indicateurs clés de l'application web complète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Présenter le bilan global du projet PFE (4 présentations)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68496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Perspectives d'amélioration et de déploiement en production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28/30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chiffrés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clés de l'application web — Le Bon Plat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520440" cy="1444752"/>
          </a:xfrm>
          <a:prstGeom prst="rect">
            <a:avLst>
              <a:gd name="adj" fmla="val 7595"/>
            </a:avLst>
          </a:prstGeom>
          <a:solidFill>
            <a:srgbClr val="E8F7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07592"/>
            <a:ext cx="3520440" cy="837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66928" y="2130186"/>
            <a:ext cx="3300984" cy="505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SPA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51376" y="1234440"/>
            <a:ext cx="3520440" cy="1444752"/>
          </a:xfrm>
          <a:prstGeom prst="rect">
            <a:avLst>
              <a:gd name="adj" fmla="val 7595"/>
            </a:avLst>
          </a:prstGeom>
          <a:solidFill>
            <a:srgbClr val="EBF2FF"/>
          </a:solidFill>
          <a:ln/>
        </p:spPr>
      </p:sp>
      <p:sp>
        <p:nvSpPr>
          <p:cNvPr id="11" name="Text 9"/>
          <p:cNvSpPr/>
          <p:nvPr/>
        </p:nvSpPr>
        <p:spPr>
          <a:xfrm>
            <a:off x="4151376" y="1307592"/>
            <a:ext cx="3520440" cy="837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261104" y="2130186"/>
            <a:ext cx="3300984" cy="505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PNG locales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45552" y="1234440"/>
            <a:ext cx="3520440" cy="1444752"/>
          </a:xfrm>
          <a:prstGeom prst="rect">
            <a:avLst>
              <a:gd name="adj" fmla="val 7595"/>
            </a:avLst>
          </a:prstGeom>
          <a:solidFill>
            <a:srgbClr val="E8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7845552" y="1307592"/>
            <a:ext cx="3520440" cy="837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955280" y="2130186"/>
            <a:ext cx="3300984" cy="505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consommés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43784"/>
            <a:ext cx="3520440" cy="1444752"/>
          </a:xfrm>
          <a:prstGeom prst="rect">
            <a:avLst>
              <a:gd name="adj" fmla="val 7595"/>
            </a:avLst>
          </a:prstGeom>
          <a:solidFill>
            <a:srgbClr val="EB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16936"/>
            <a:ext cx="3520440" cy="837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1s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566928" y="3739530"/>
            <a:ext cx="3300984" cy="505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du menu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51376" y="2843784"/>
            <a:ext cx="3520440" cy="1444752"/>
          </a:xfrm>
          <a:prstGeom prst="rect">
            <a:avLst>
              <a:gd name="adj" fmla="val 7595"/>
            </a:avLst>
          </a:prstGeom>
          <a:solidFill>
            <a:srgbClr val="E8F7F6"/>
          </a:solidFill>
          <a:ln/>
        </p:spPr>
      </p:sp>
      <p:sp>
        <p:nvSpPr>
          <p:cNvPr id="20" name="Text 18"/>
          <p:cNvSpPr/>
          <p:nvPr/>
        </p:nvSpPr>
        <p:spPr>
          <a:xfrm>
            <a:off x="4151376" y="2916936"/>
            <a:ext cx="3520440" cy="837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4261104" y="3739530"/>
            <a:ext cx="3300984" cy="505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filtrables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45552" y="2843784"/>
            <a:ext cx="3520440" cy="1444752"/>
          </a:xfrm>
          <a:prstGeom prst="rect">
            <a:avLst>
              <a:gd name="adj" fmla="val 7595"/>
            </a:avLst>
          </a:prstGeom>
          <a:solidFill>
            <a:srgbClr val="EBF2FF"/>
          </a:solidFill>
          <a:ln/>
        </p:spPr>
      </p:sp>
      <p:sp>
        <p:nvSpPr>
          <p:cNvPr id="23" name="Text 21"/>
          <p:cNvSpPr/>
          <p:nvPr/>
        </p:nvSpPr>
        <p:spPr>
          <a:xfrm>
            <a:off x="7845552" y="2916936"/>
            <a:ext cx="3520440" cy="837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90.5%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7955280" y="3739530"/>
            <a:ext cx="3300984" cy="505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recommandation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462272"/>
            <a:ext cx="11274552" cy="2176272"/>
          </a:xfrm>
          <a:prstGeom prst="rect">
            <a:avLst>
              <a:gd name="adj" fmla="val 5042"/>
            </a:avLst>
          </a:prstGeom>
          <a:solidFill>
            <a:srgbClr val="DCE3E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5902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 l'application web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SPA complète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502920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pages · Vanilla JS · navigation fluide sans rechargement · localStorage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367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IA intégrée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0" y="5367528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RF 90.52% · formulaire budget/jour/temp · résultats temps réel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57058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Commande complète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0" y="5705856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persistant · checkout · ticket imprimable · numéro unique #XXXXXXXXX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60441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Avis dynamiques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0" y="6044184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 /api/reviews · affichage en temps réel · note /10 · date automatique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63825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Thème cohérent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0" y="6382512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#0f0f0f · orange #FF9800 · Font Awesome · responsive · hover animations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Bilan du projet PFE complet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présentations · un pipeline IA de bout en bout · production-ready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00" cy="2651760"/>
          </a:xfrm>
          <a:prstGeom prst="rect">
            <a:avLst>
              <a:gd name="adj" fmla="val 4138"/>
            </a:avLst>
          </a:prstGeom>
          <a:solidFill>
            <a:srgbClr val="E8F7F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70432"/>
            <a:ext cx="457200" cy="2651760"/>
          </a:xfrm>
          <a:prstGeom prst="rect">
            <a:avLst>
              <a:gd name="adj" fmla="val 16000"/>
            </a:avLst>
          </a:prstGeom>
          <a:solidFill>
            <a:srgbClr val="12B8B0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35331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Collecter &amp; Nettoyer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764792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 : 5 sources CSV → nettoyage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merge · 1 028 commandes propres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final · sales history validé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27648" y="1170432"/>
            <a:ext cx="5486400" cy="2651760"/>
          </a:xfrm>
          <a:prstGeom prst="rect">
            <a:avLst>
              <a:gd name="adj" fmla="val 4138"/>
            </a:avLst>
          </a:prstGeom>
          <a:solidFill>
            <a:srgbClr val="EBF2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327648" y="1170432"/>
            <a:ext cx="457200" cy="2651760"/>
          </a:xfrm>
          <a:prstGeom prst="rect">
            <a:avLst>
              <a:gd name="adj" fmla="val 16000"/>
            </a:avLst>
          </a:prstGeom>
          <a:solidFill>
            <a:srgbClr val="3A7EFF"/>
          </a:solidFill>
          <a:ln/>
        </p:spPr>
      </p:sp>
      <p:sp>
        <p:nvSpPr>
          <p:cNvPr id="13" name="Text 11"/>
          <p:cNvSpPr/>
          <p:nvPr/>
        </p:nvSpPr>
        <p:spPr>
          <a:xfrm>
            <a:off x="6922008" y="135331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&amp; Évaluer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22008" y="1764792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90.52% · 4 features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4 algorithmes · confusion matrix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sérialisé best_model.pkl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5486400" cy="2651760"/>
          </a:xfrm>
          <a:prstGeom prst="rect">
            <a:avLst>
              <a:gd name="adj" fmla="val 4138"/>
            </a:avLst>
          </a:prstGeom>
          <a:solidFill>
            <a:srgbClr val="E8F7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959352"/>
            <a:ext cx="457200" cy="2651760"/>
          </a:xfrm>
          <a:prstGeom prst="rect">
            <a:avLst>
              <a:gd name="adj" fmla="val 16000"/>
            </a:avLst>
          </a:prstGeom>
          <a:solidFill>
            <a:srgbClr val="12B8B0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14223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Exposer via API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553712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· 10 endpoints · Blueprint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 → JSON · CORS frontend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tests pytest · gestion erreurs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27648" y="3959352"/>
            <a:ext cx="5486400" cy="2651760"/>
          </a:xfrm>
          <a:prstGeom prst="rect">
            <a:avLst>
              <a:gd name="adj" fmla="val 4138"/>
            </a:avLst>
          </a:prstGeom>
          <a:solidFill>
            <a:srgbClr val="EBF2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327648" y="3959352"/>
            <a:ext cx="457200" cy="2651760"/>
          </a:xfrm>
          <a:prstGeom prst="rect">
            <a:avLst>
              <a:gd name="adj" fmla="val 16000"/>
            </a:avLst>
          </a:prstGeom>
          <a:solidFill>
            <a:srgbClr val="3A7EFF"/>
          </a:solidFill>
          <a:ln/>
        </p:spPr>
      </p:sp>
      <p:sp>
        <p:nvSpPr>
          <p:cNvPr id="21" name="Text 19"/>
          <p:cNvSpPr/>
          <p:nvPr/>
        </p:nvSpPr>
        <p:spPr>
          <a:xfrm>
            <a:off x="6922008" y="414223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Délivrer à l'utilisateur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22008" y="4553712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pages SPA · Recommandations 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localStorage · ticket commande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clients · panneau admin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2026-09-08T22:46:23Z</dcterms:created>
  <dcterms:modified xsi:type="dcterms:W3CDTF">2026-09-08T22:46:23Z</dcterms:modified>
</cp:coreProperties>
</file>