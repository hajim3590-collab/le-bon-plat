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8.png"/><Relationship Id="rId5" Type="http://schemas.openxmlformats.org/officeDocument/2006/relationships/image" Target="../media/image9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1862286"/>
            <a:ext cx="2857500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575" y="4567088"/>
            <a:ext cx="5276850" cy="428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0419" y="2433786"/>
            <a:ext cx="9291161" cy="70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b="0" sz="4800" i="0" u="none">
                <a:solidFill>
                  <a:srgbClr val="0F172A"/>
                </a:solidFill>
                <a:latin typeface="Poppins ExtraBold"/>
              </a:rPr>
              <a:t>LE BON PLAT : </a:t>
            </a:r>
            <a:r>
              <a:rPr b="0" sz="4800" i="0" u="none">
                <a:solidFill>
                  <a:srgbClr val="0F172A"/>
                </a:solidFill>
                <a:latin typeface="Poppins ExtraBold"/>
              </a:rPr>
              <a:t>DONNÉES &amp;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325266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Ingénierie de données : Collecte multi-sources, nettoyage automatisé et structuration pour les modèles d'IA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24625"/>
            <a:ext cx="1733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Soutenance PFE • LE BON PLAT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01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4814738"/>
            <a:ext cx="14763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Medium"/>
              </a:rPr>
              <a:t>Partie 1 : Pipeline ETL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0" y="4814738"/>
            <a:ext cx="13811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Medium"/>
              </a:rPr>
              <a:t>8 Sources Intégrées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9550" y="4814738"/>
            <a:ext cx="904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Medium"/>
              </a:rPr>
              <a:t>Prêt pour l'IA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4833788"/>
            <a:ext cx="1619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2125" y="4833788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3325" y="4833788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47875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175" y="476250"/>
            <a:ext cx="11131391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Présentation &amp; Objectif du Pipeline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5787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524625"/>
            <a:ext cx="1714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C'est 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9975" y="652462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02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7564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8 sources hétérogènes 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Fichiers CSV et JSON issus de multiples canaux.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37594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Problématique majeure 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Données brutes "sales" (incohérences, valeurs manquantes, erreurs de devises).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7625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Solution appliquée 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Traitement automatisé pour fiabiliser la donnée.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7655"/>
            <a:ext cx="49911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Résultat final 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27 lignes nettoyées et exploitables à 100% par l'IA.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57400"/>
            <a:ext cx="5314950" cy="3600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50901"/>
            <a:ext cx="23812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70932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90962"/>
            <a:ext cx="2190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61099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36564"/>
            <a:ext cx="2619375" cy="1725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036564"/>
            <a:ext cx="2619375" cy="17258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036564"/>
            <a:ext cx="2619375" cy="17258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2036564"/>
            <a:ext cx="2619375" cy="17258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52875"/>
            <a:ext cx="2619375" cy="172581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75" y="3952875"/>
            <a:ext cx="2619375" cy="172581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3952875"/>
            <a:ext cx="2619375" cy="172581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1125" y="3952875"/>
            <a:ext cx="2619375" cy="17258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7275" y="476250"/>
            <a:ext cx="11091386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Cartographie des 8 Sources de Données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85787"/>
            <a:ext cx="3429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6524625"/>
            <a:ext cx="233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Collecte Multi-Sources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9975" y="652462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03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2255639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475" y="2808089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1. Menu Fournisseur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3170039"/>
            <a:ext cx="22574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Catalogue initial des plats disponibles.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2350" y="2255639"/>
            <a:ext cx="438150" cy="4381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62350" y="2808089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2. Menu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2350" y="3170039"/>
            <a:ext cx="2257425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Offre affichée en ligne aux clients.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225" y="2255639"/>
            <a:ext cx="438150" cy="438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72225" y="2808089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3. Base Interne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3170039"/>
            <a:ext cx="2257425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Codes et identifiants uniques.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2100" y="2255639"/>
            <a:ext cx="438150" cy="4381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82100" y="2808089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4. Historique Ventes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3170039"/>
            <a:ext cx="22574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64748B"/>
                </a:solidFill>
                <a:latin typeface="Inter"/>
              </a:rPr>
              <a:t>Cœur du projet :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Données de ventes réelles.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171950"/>
            <a:ext cx="438150" cy="4381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2475" y="4724400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5. Météo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5086350"/>
            <a:ext cx="2257425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Températures &amp; météo quotidienne.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62350" y="4171950"/>
            <a:ext cx="438150" cy="4381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62350" y="4724400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6. Concurrents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2350" y="5086350"/>
            <a:ext cx="2257425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Relevé des prix du marché.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72225" y="4171950"/>
            <a:ext cx="438150" cy="4381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72225" y="4724400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7. Boissons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225" y="5086350"/>
            <a:ext cx="2257425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Produits annexes &amp; suppléments.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82100" y="4171950"/>
            <a:ext cx="438150" cy="4381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82100" y="4724400"/>
            <a:ext cx="23702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8. Autres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2100" y="5086350"/>
            <a:ext cx="22574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Données externes complémentaires.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5825" y="2379464"/>
            <a:ext cx="171450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86175" y="2379464"/>
            <a:ext cx="190500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05575" y="2379464"/>
            <a:ext cx="17145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91637" y="2379464"/>
            <a:ext cx="219075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2487" y="4295775"/>
            <a:ext cx="238125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86175" y="4295775"/>
            <a:ext cx="19050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9862" y="4295775"/>
            <a:ext cx="142875" cy="1905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05925" y="429577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46189"/>
            <a:ext cx="3524250" cy="20228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846189"/>
            <a:ext cx="3524250" cy="20228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2846189"/>
            <a:ext cx="3524250" cy="2022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75" y="476250"/>
            <a:ext cx="11051381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Comprendre le Processus ETL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85787"/>
            <a:ext cx="3810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524625"/>
            <a:ext cx="233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Standard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9975" y="652462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04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625" y="3046214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CBD5E1"/>
                </a:solidFill>
                <a:latin typeface="Inter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141464"/>
            <a:ext cx="308038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6B35"/>
                </a:solidFill>
                <a:latin typeface="Poppins"/>
              </a:rPr>
              <a:t>E -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570089"/>
            <a:ext cx="2933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Extraction 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Chargement groupé des 8 fichiers sources au format brut (CSV, JSON) depuis l'environnement initial.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0" y="3074789"/>
            <a:ext cx="49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FF6B35"/>
                </a:solidFill>
                <a:latin typeface="Inter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3170039"/>
            <a:ext cx="308038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6B35"/>
                </a:solidFill>
                <a:latin typeface="Poppins"/>
              </a:rPr>
              <a:t>T -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3598664"/>
            <a:ext cx="29337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Transformation 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Nettoyage, suppression du bruit, imputation des valeurs manquantes et normalisation des types.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5650" y="3046214"/>
            <a:ext cx="5048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CBD5E1"/>
                </a:solidFill>
                <a:latin typeface="Inter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141464"/>
            <a:ext cx="308038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6B35"/>
                </a:solidFill>
                <a:latin typeface="Poppins"/>
              </a:rPr>
              <a:t>L -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570089"/>
            <a:ext cx="2933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Chargement 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Sauvegarde des jeux de données propres et unifiés dans le dossier de destination pour l'IA.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84264"/>
            <a:ext cx="11049000" cy="2346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175" y="476250"/>
            <a:ext cx="11131391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Anomales Détectées &amp; Corrections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5787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524625"/>
            <a:ext cx="2286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Nettoyage Automatisé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0" y="6524625"/>
            <a:ext cx="381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05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2693789"/>
            <a:ext cx="11029950" cy="232767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1025" y="2693789"/>
          <a:ext cx="11029948" cy="2327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12814"/>
                <a:gridCol w="2552402"/>
                <a:gridCol w="3213645"/>
                <a:gridCol w="2751087"/>
              </a:tblGrid>
              <a:tr h="581917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Problème Identifié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Exemple Typique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Impact / Détection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Solution Appliquée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81917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Anomalie Catégorie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"Plat mystère"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Aucune catégorie attribuée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Suppression de la ligne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1917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Valeur Manquante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"Fondant chocolat"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Prix de vente absent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Imputation fixe (7.00 €)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192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Format Incohérent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Devise </a:t>
                      </a:r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"none"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Incompatibilité des calculs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Normalisation en "EUR"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1025" y="3824287"/>
            <a:ext cx="2512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93839" y="3824287"/>
            <a:ext cx="2552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46241" y="3824287"/>
            <a:ext cx="3213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9887" y="3824287"/>
            <a:ext cx="27510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4420492"/>
            <a:ext cx="2512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3839" y="4420492"/>
            <a:ext cx="2552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46241" y="4420492"/>
            <a:ext cx="3213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9887" y="4420492"/>
            <a:ext cx="27510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423344"/>
            <a:ext cx="13620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0387" y="3423344"/>
            <a:ext cx="155257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019550"/>
            <a:ext cx="12668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0387" y="4019550"/>
            <a:ext cx="158115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615755"/>
            <a:ext cx="1314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0387" y="4615755"/>
            <a:ext cx="16002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60252"/>
            <a:ext cx="5381625" cy="31945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60252"/>
            <a:ext cx="5381625" cy="31945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9175" y="476250"/>
            <a:ext cx="11131391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Analyse Comparative : Avant vs Après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57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524625"/>
            <a:ext cx="2181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Validation de Qualité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9975" y="652462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06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027"/>
            <a:ext cx="46958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0" sz="3600" i="0" u="none">
                <a:solidFill>
                  <a:srgbClr val="DC2626"/>
                </a:solidFill>
                <a:latin typeface="Inter ExtraBold"/>
              </a:rPr>
              <a:t>30 Lignes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127027"/>
            <a:ext cx="46958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0" sz="3600" i="0" u="none">
                <a:solidFill>
                  <a:srgbClr val="16A34A"/>
                </a:solidFill>
                <a:latin typeface="Inter ExtraBold"/>
              </a:rPr>
              <a:t>27 Lignes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3152"/>
            <a:ext cx="23802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AVANT NETTOYAGE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525" y="2636490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7300" y="377472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Données brutes et bruitées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422046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Erreurs de saisie et de devises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4666208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Risque élevé de défaillance de l'IA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2603152"/>
            <a:ext cx="22702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Poppins"/>
              </a:rPr>
              <a:t>APRÈS NETTOYAGE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0900" y="2636490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24675" y="377472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Dataset 100% valide et structuré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4675" y="422046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Normalisation complète effectuée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4675" y="4666208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Qualité garantie pour le modèle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808065"/>
            <a:ext cx="14287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253805"/>
            <a:ext cx="142875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699545"/>
            <a:ext cx="142875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3808065"/>
            <a:ext cx="1714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253805"/>
            <a:ext cx="1714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699545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22339"/>
            <a:ext cx="5334000" cy="26705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47875"/>
            <a:ext cx="53340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75" y="476250"/>
            <a:ext cx="11091386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Structuration des Fichiers Projet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5787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524625"/>
            <a:ext cx="2266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Architecture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524625"/>
            <a:ext cx="381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07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760464"/>
            <a:ext cx="4762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38BDF8"/>
                </a:solidFill>
                <a:latin typeface="monospace"/>
              </a:rPr>
              <a:t>📁 data/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2057400"/>
            <a:ext cx="5314950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7750" y="3034754"/>
            <a:ext cx="4572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38BDF8"/>
                </a:solidFill>
                <a:latin typeface="monospace"/>
              </a:rPr>
              <a:t>├── 📁 raw/ </a:t>
            </a:r>
            <a:r>
              <a:rPr b="1" sz="1200" i="1" u="none">
                <a:solidFill>
                  <a:srgbClr val="64748B"/>
                </a:solidFill>
                <a:latin typeface="monospace"/>
              </a:rPr>
              <a:t>(Fichiers bruts)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4131915"/>
            <a:ext cx="4572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38BDF8"/>
                </a:solidFill>
                <a:latin typeface="monospace"/>
              </a:rPr>
              <a:t>└── 📁 processed/ </a:t>
            </a:r>
            <a:r>
              <a:rPr b="1" sz="1200" i="1" u="none">
                <a:solidFill>
                  <a:srgbClr val="64748B"/>
                </a:solidFill>
                <a:latin typeface="monospace"/>
              </a:rPr>
              <a:t>(Nettoyés &amp; Unifiés)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3309044"/>
            <a:ext cx="438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CBD5E1"/>
                </a:solidFill>
                <a:latin typeface="monospace"/>
              </a:rPr>
              <a:t>├── beverages.csv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3583334"/>
            <a:ext cx="438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CBD5E1"/>
                </a:solidFill>
                <a:latin typeface="monospace"/>
              </a:rPr>
              <a:t>├── competitor_prices.csv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3857625"/>
            <a:ext cx="438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CBD5E1"/>
                </a:solidFill>
                <a:latin typeface="monospace"/>
              </a:rPr>
              <a:t>└── menu_*.csv/json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4406205"/>
            <a:ext cx="438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4ADE80"/>
                </a:solidFill>
                <a:latin typeface="monospace"/>
              </a:rPr>
              <a:t>├── beverages_clean.csv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4680495"/>
            <a:ext cx="438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4ADE80"/>
                </a:solidFill>
                <a:latin typeface="monospace"/>
              </a:rPr>
              <a:t>└── menu_final_clean.csv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00800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70832"/>
            <a:ext cx="5381625" cy="2973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689919"/>
            <a:ext cx="5381625" cy="2335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1075" y="476250"/>
            <a:ext cx="11171396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Synthèse &amp; Bilan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5787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524625"/>
            <a:ext cx="1685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Partie 1 : Données •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9975" y="652462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6B35"/>
                </a:solidFill>
                <a:latin typeface="Inter"/>
              </a:rPr>
              <a:t>08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/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3732"/>
            <a:ext cx="4930616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6B35"/>
                </a:solidFill>
                <a:latin typeface="Poppins"/>
              </a:rPr>
              <a:t>Accomplissements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1562" y="3023294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4378" y="3690044"/>
            <a:ext cx="495061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Poppins"/>
              </a:rPr>
              <a:t>Prêt pour l'IA 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4204394"/>
            <a:ext cx="4714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La donnée nettoyée constitue le socle indispensable pour entraîner et exécuter nos modèles de prédiction avec précision.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761357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300" y="321855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8 sources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consolidées avec succès.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66429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3 types d'erreurs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identifiés et corrigés.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11003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27 lignes valides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prêtes à l'emploi.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4555777"/>
            <a:ext cx="4352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Pérennité 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Fondation solide établie.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251894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697634"/>
            <a:ext cx="1714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143375"/>
            <a:ext cx="1714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589115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https://media.finebi.com/strapi/FDL_data_pipeline_process_827a30da33.png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www.fanruan.com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https://assets.insightmediagroup.io/media/wp-content/uploads/2026/07/image-239.jpg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towardsdatascience.com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