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recommandation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Random Forest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Predire la categorie optimale selon meteo &amp; budget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930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presenter : Etudiant — Certification Developpeur en Intelligence Artificielle — 2025/2026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objectif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mon role et l'objectif du modele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mon role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: 1 028 commandes reelles de 2025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: les 4 variables les plus utiles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(temperature, budget, mois, jour)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: 4 algorithmes sur les memes donnees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Selectionner : Random Forest — meilleur resultat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90.52% de precision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: accuracy, F1-Score, matrice de confusion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: best_model.pkl pour l'API Flask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l'objectif du modele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4 informations du client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temperature_c : temperature du jour (C)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: budget declare par le client (EUR)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mois : mois de la commande (1 a 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jour_semaine : lundi=0 ... dimanche=6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Predire automatiquement 1 categorie parmi 6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Plat_du_jour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Vegetarien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Dessert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Enfant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utilise : 1 028 commandes reelles 2025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Annoncer les 6 parties de cette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57200" cy="45720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5212080" cy="274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325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le probleme &amp; l'objectif ML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1325880"/>
            <a:ext cx="457200" cy="457200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7648" y="1837944"/>
            <a:ext cx="5212080" cy="2743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325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les donnees &amp; les 4 features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457200" cy="457200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5212080" cy="27432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898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4 algorithmes et choisir le meilleur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2898648"/>
            <a:ext cx="457200" cy="457200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3410712"/>
            <a:ext cx="52120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2898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l'entrainement du modele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457200" cy="45720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521208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4714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: la performance sur le test set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4471416"/>
            <a:ext cx="457200" cy="457200"/>
          </a:xfrm>
          <a:prstGeom prst="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7648" y="4983480"/>
            <a:ext cx="521208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922008" y="44714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 : les resultats &amp; l'integration API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&amp; objectif ML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pourquoi on a besoin d'un modele ML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: la variable cible = categorie de plat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: 1 028 commandes disponibles pour l'entrainement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besoin metier au modele predictif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 probleme reel en classification supervisee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611880" cy="4956048"/>
          </a:xfrm>
          <a:prstGeom prst="rect">
            <a:avLst>
              <a:gd name="adj" fmla="val 3038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probleme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315468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outil automatique, c'est le serveur qui choisit la recommandation sans logique.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concrets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personnalisation selon la meteo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du client non pris en compte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saison est ignoree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serveur decide differemment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1 028 commandes par an = autant d'opportunites de mieux cibler le client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1170432"/>
            <a:ext cx="3611880" cy="4956048"/>
          </a:xfrm>
          <a:prstGeom prst="rect">
            <a:avLst>
              <a:gd name="adj" fmla="val 3038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3533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la solution 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1792224"/>
            <a:ext cx="315468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l'historique en regle de prediction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X — 4 variables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temperature_c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jour_semaine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y — 1 categorie parmi 6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Entree, Plat_du_jour,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Vegetarien, Dessert, Enfant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: classification supervisee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modele apprend des commandes passees)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170432"/>
            <a:ext cx="3611880" cy="4956048"/>
          </a:xfrm>
          <a:prstGeom prst="rect">
            <a:avLst>
              <a:gd name="adj" fmla="val 3038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8311896" y="13533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donnees disponibles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11896" y="1792224"/>
            <a:ext cx="315468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1 028 commandes reelles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: 01/01/2025 – 31/12/2025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sales_history_clean.csv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(date, temperature, budget, categorie)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menu_final_clean.csv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(categories des plats)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final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 = tableau 1028 lignes x 4 colonnes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 = 1028 categories (la cible)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disponibles &amp; classification multi-classes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 dataset et la repartition des 6 categories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176272"/>
          </a:xfrm>
          <a:prstGeom prst="rect">
            <a:avLst>
              <a:gd name="adj" fmla="val 5042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 dataset d'entrainement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sales_history_clean.csv + menu_final_clean.csv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1 028 commandes · 2025 · 0 valeur nulle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Colonnes ajoutees : mois (dt.month) et jour_semaine (dt.dayofweek)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Resultat final : X (1028 lignes, 4 colonnes) et y (1028 categories)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2176272"/>
          </a:xfrm>
          <a:prstGeom prst="rect">
            <a:avLst>
              <a:gd name="adj" fmla="val 5042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repartition des 6 classes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 : 278 commandes (27%)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        : 245 commandes (24%)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      : 136 commandes (13%)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       : 127 commandes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       : 122 commandes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    : 120 commandes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Distribution equilibree : ideal pour l'entrainement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11274552" cy="2633472"/>
          </a:xfrm>
          <a:prstGeom prst="rect">
            <a:avLst>
              <a:gd name="adj" fmla="val 4167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75888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on predit la CATEGORIE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108173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categorie est le premier choix naturel du client : chaud ou froid ? leger ou copieux ? pour enfant 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predisant la bonne categorie, on peut ensuite proposer le bon plat dans cette categorie.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 6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Metrique principale : Accuracy + F1-Score pondere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Stratification : chaque classe garde sa proportion dans Train (80%) et Test (20%)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features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les 4 variables choisies et pourquoi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comment on extrait mois et jour depuis la date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l'impact sur la precision (+22 points avec 4 features)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features retenues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chaque variable et son impact sur la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743200" cy="4956048"/>
          </a:xfrm>
          <a:prstGeom prst="rect">
            <a:avLst>
              <a:gd name="adj" fmla="val 4000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274320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44752"/>
            <a:ext cx="2743200" cy="16459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temperature_c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256032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meteo — 42% d'importance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variable la plus importante.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il fait froid : le client veut du Grill ou Plat_dj.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il fait chaud : Grill ou Vegetarien.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0.1C a 35.2C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15.8C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dans le modele : 42%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170432"/>
            <a:ext cx="2743200" cy="4956048"/>
          </a:xfrm>
          <a:prstGeom prst="rect">
            <a:avLst>
              <a:gd name="adj" fmla="val 4000"/>
            </a:avLst>
          </a:prstGeom>
          <a:solidFill>
            <a:srgbClr val="EB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170432"/>
            <a:ext cx="274320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444752"/>
            <a:ext cx="2743200" cy="16459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1704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budget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664208"/>
            <a:ext cx="256032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d'achat — 35% d'importance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du client oriente la categorie.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10 EUR : Entree ou Dessert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10 et 18 EUR : Plat_dj, Vegetarien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18 EUR : Grill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5 a 30 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14.7 EUR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dans le modele : 35%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170432"/>
            <a:ext cx="2743200" cy="4956048"/>
          </a:xfrm>
          <a:prstGeom prst="rect">
            <a:avLst>
              <a:gd name="adj" fmla="val 4000"/>
            </a:avLst>
          </a:prstGeom>
          <a:solidFill>
            <a:srgbClr val="E8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170432"/>
            <a:ext cx="274320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444752"/>
            <a:ext cx="2743200" cy="16459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1704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mois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664208"/>
            <a:ext cx="256032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Saisonnalite — 14% d'importance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mois capte les habitudes de saison.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Decembre a Fevrier : Grill domine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a Aout : Vegetarien augmente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a Mai : Plat_du_jour fort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df["date"].dt.month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dans le modele : 14%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1170432"/>
            <a:ext cx="2743200" cy="4956048"/>
          </a:xfrm>
          <a:prstGeom prst="rect">
            <a:avLst>
              <a:gd name="adj" fmla="val 4000"/>
            </a:avLst>
          </a:prstGeom>
          <a:solidFill>
            <a:srgbClr val="EB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5440" y="1170432"/>
            <a:ext cx="274320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1444752"/>
            <a:ext cx="2743200" cy="16459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11704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jour_semaine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1664208"/>
            <a:ext cx="256032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Habitudes hebdo — 9% d'importance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 capte les habitudes de la semaine.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Lundi-Mardi : Plat_du_jour prefere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Vendredi-Samedi : Grill et Dessert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Mercredi-Jeudi : Entree, Vegetarien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df["date"].dt.dayofweek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(0=Lundi  6=Dimanche)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: 9%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extraction mois &amp; jour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comment la date devient deux variables utiles pour le modele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1476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12064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Charger les fichiers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"data/processed/sales_history_clean.csv")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df_menu = pd.read_csv(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"data/processed/menu_final_clean.csv")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Fusionner les deux sources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df.merge(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df_menu[["dish_name","category"]],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left_on="dish_category",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right_on="category", how="left")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Convertir la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df["date"] = pd.to_datetime(df["date"])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Extraire mois et jour depuis la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df["mois"] = df["date"].dt.month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df["jour_semaine"] = df["date"].dt.dayofweek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Construire X et 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df[["temperature_c","budget",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"mois","jour_semaine"]].copy()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df["dish_category"].copy()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print(X.shape)     # (1028, 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print(y.nunique()) #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print(X.isnull().sum().sum())  #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44768" y="1170432"/>
            <a:ext cx="5486400" cy="2304288"/>
          </a:xfrm>
          <a:prstGeom prst="rect">
            <a:avLst>
              <a:gd name="adj" fmla="val 4762"/>
            </a:avLst>
          </a:prstGeom>
          <a:solidFill>
            <a:srgbClr val="E8F7F6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l'impact de cette 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792224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difference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mois et jour (2 features)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≈ 68% seulement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mois + jour (4 features)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= 90.52%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Gain : +22 points de precision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l'extraction temporelle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transformation la plus importante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tout le pipeline.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3584448"/>
            <a:ext cx="5486400" cy="2542032"/>
          </a:xfrm>
          <a:prstGeom prst="rect">
            <a:avLst>
              <a:gd name="adj" fmla="val 4317"/>
            </a:avLst>
          </a:prstGeom>
          <a:solidFill>
            <a:srgbClr val="EB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3767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les statistiques finales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4206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Moyenne=15.8C  Min=0.1  Max=35.2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Moyenne=14.7EUR  Min=5.0  Max=30.0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: de 1 a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jour_semaine : de 0 a 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normalisation necessaire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fonctionne sans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les variables a la meme echelle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— apercu du dataset d'entrainement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 format reel de X et y avant le split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X — les 5 premieres lignes de sales_history_clean.csv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60320" cy="34747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463040"/>
            <a:ext cx="1828800" cy="34747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4630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1645920" cy="34747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463040"/>
            <a:ext cx="1645920" cy="34747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jour_semaine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8288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1828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28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8288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828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212848"/>
            <a:ext cx="25603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212848"/>
            <a:ext cx="182880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212848"/>
            <a:ext cx="16459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2128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212848"/>
            <a:ext cx="16459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2128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596896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17520" y="2596896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25968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596896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5968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596896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25968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980944"/>
            <a:ext cx="25603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9809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2980944"/>
            <a:ext cx="182880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29809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980944"/>
            <a:ext cx="16459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98094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2980944"/>
            <a:ext cx="1645920" cy="36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98094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364992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3649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17520" y="336499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33649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3364992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3649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92240" y="3364992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3649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21040" y="1463040"/>
            <a:ext cx="3383280" cy="34747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1463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dish_category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21040" y="1828800"/>
            <a:ext cx="3383280" cy="365760"/>
          </a:xfrm>
          <a:prstGeom prst="rect">
            <a:avLst/>
          </a:prstGeom>
          <a:solidFill>
            <a:srgbClr val="E8F7F6"/>
          </a:solidFill>
          <a:ln w="12700">
            <a:solidFill>
              <a:srgbClr val="B0D8D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66760" y="1828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21040" y="2212848"/>
            <a:ext cx="3383280" cy="365760"/>
          </a:xfrm>
          <a:prstGeom prst="rect">
            <a:avLst/>
          </a:prstGeom>
          <a:solidFill>
            <a:srgbClr val="E0F5F3"/>
          </a:solidFill>
          <a:ln w="12700">
            <a:solidFill>
              <a:srgbClr val="B0D8D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760" y="22128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321040" y="2596896"/>
            <a:ext cx="3383280" cy="365760"/>
          </a:xfrm>
          <a:prstGeom prst="rect">
            <a:avLst/>
          </a:prstGeom>
          <a:solidFill>
            <a:srgbClr val="E8F7F6"/>
          </a:solidFill>
          <a:ln w="12700">
            <a:solidFill>
              <a:srgbClr val="B0D8D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259689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321040" y="2980944"/>
            <a:ext cx="3383280" cy="365760"/>
          </a:xfrm>
          <a:prstGeom prst="rect">
            <a:avLst/>
          </a:prstGeom>
          <a:solidFill>
            <a:srgbClr val="E0F5F3"/>
          </a:solidFill>
          <a:ln w="12700">
            <a:solidFill>
              <a:srgbClr val="B0D8D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6760" y="29809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321040" y="3364992"/>
            <a:ext cx="3383280" cy="365760"/>
          </a:xfrm>
          <a:prstGeom prst="rect">
            <a:avLst/>
          </a:prstGeom>
          <a:solidFill>
            <a:srgbClr val="E8F7F6"/>
          </a:solidFill>
          <a:ln w="12700">
            <a:solidFill>
              <a:srgbClr val="B0D8D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66760" y="33649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57200" y="3886200"/>
            <a:ext cx="11274552" cy="2240280"/>
          </a:xfrm>
          <a:prstGeom prst="rect">
            <a:avLst>
              <a:gd name="adj" fmla="val 4898"/>
            </a:avLst>
          </a:prstGeom>
          <a:solidFill>
            <a:srgbClr val="DCE3EA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la division train / test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40080" y="44074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Total : 1 028 commandes avec 4 features (temperature, budget, mois, jour_semaine)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0080" y="48097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 set : 822 exemples (80%) — le modele apprend sur ces donnees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0080" y="52120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set  : 206 exemples (20%) — le modele ne les voit jamais pendant l'entrainement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5614416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Encodage : LabelEncoder convertit les 6 categories en chiffres (0=Dessert 1=Enfant 2=Entree 3=Grill 4=Plat_dj 5=Veg.)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du modele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: 4 algorithmes avec les memes donnees et le meme split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accuracy, F1-Score et temps d'entrainement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: pourquoi Random Forest est le meilleur choix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 4 algorithmes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resultats reels — memes donnees, meme split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92608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70432"/>
            <a:ext cx="192024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704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170432"/>
            <a:ext cx="192024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1704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1170432"/>
            <a:ext cx="192024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1704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170432"/>
            <a:ext cx="164592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572768"/>
            <a:ext cx="292608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57276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57276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68.44 %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57276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65.57 %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157276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66.76 %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1572768"/>
            <a:ext cx="164592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57276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 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075688"/>
            <a:ext cx="2926080" cy="475488"/>
          </a:xfrm>
          <a:prstGeom prst="rect">
            <a:avLst/>
          </a:prstGeom>
          <a:solidFill>
            <a:srgbClr val="F0F7E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07568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075688"/>
            <a:ext cx="1920240" cy="475488"/>
          </a:xfrm>
          <a:prstGeom prst="rect">
            <a:avLst/>
          </a:prstGeom>
          <a:solidFill>
            <a:srgbClr val="F0F7E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0756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85.33 %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03520" y="2075688"/>
            <a:ext cx="1920240" cy="475488"/>
          </a:xfrm>
          <a:prstGeom prst="rect">
            <a:avLst/>
          </a:prstGeom>
          <a:solidFill>
            <a:srgbClr val="F0F7E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0756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84.27 %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2075688"/>
            <a:ext cx="1920240" cy="475488"/>
          </a:xfrm>
          <a:prstGeom prst="rect">
            <a:avLst/>
          </a:prstGeom>
          <a:solidFill>
            <a:srgbClr val="F0F7E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0756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84.45 %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44000" y="2075688"/>
            <a:ext cx="1645920" cy="475488"/>
          </a:xfrm>
          <a:prstGeom prst="rect">
            <a:avLst/>
          </a:prstGeom>
          <a:solidFill>
            <a:srgbClr val="F0F7E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207568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2578608"/>
            <a:ext cx="2926080" cy="475488"/>
          </a:xfrm>
          <a:prstGeom prst="rect">
            <a:avLst/>
          </a:prstGeom>
          <a:solidFill>
            <a:srgbClr val="E8F7F6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57860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*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383280" y="2578608"/>
            <a:ext cx="1920240" cy="475488"/>
          </a:xfrm>
          <a:prstGeom prst="rect">
            <a:avLst/>
          </a:prstGeom>
          <a:solidFill>
            <a:srgbClr val="E8F7F6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257860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90.52 %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03520" y="2578608"/>
            <a:ext cx="1920240" cy="475488"/>
          </a:xfrm>
          <a:prstGeom prst="rect">
            <a:avLst/>
          </a:prstGeom>
          <a:solidFill>
            <a:srgbClr val="E8F7F6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257860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90.02 %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23760" y="2578608"/>
            <a:ext cx="1920240" cy="475488"/>
          </a:xfrm>
          <a:prstGeom prst="rect">
            <a:avLst/>
          </a:prstGeom>
          <a:solidFill>
            <a:srgbClr val="E8F7F6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257860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89.31 %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44000" y="2578608"/>
            <a:ext cx="1645920" cy="475488"/>
          </a:xfrm>
          <a:prstGeom prst="rect">
            <a:avLst/>
          </a:prstGeom>
          <a:solidFill>
            <a:srgbClr val="E8F7F6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9720" y="257860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0.353 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3081528"/>
            <a:ext cx="292608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08152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08152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30815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70.07 %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303520" y="308152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30815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67.39 %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23760" y="3081528"/>
            <a:ext cx="192024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30815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67.99 %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44000" y="3081528"/>
            <a:ext cx="1645920" cy="475488"/>
          </a:xfrm>
          <a:prstGeom prst="rect">
            <a:avLst/>
          </a:prstGeom>
          <a:solidFill>
            <a:srgbClr val="E8F1FB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89720" y="30815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 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3675888"/>
            <a:ext cx="11274552" cy="2450592"/>
          </a:xfrm>
          <a:prstGeom prst="rect">
            <a:avLst>
              <a:gd name="adj" fmla="val 4478"/>
            </a:avLst>
          </a:prstGeom>
          <a:solidFill>
            <a:srgbClr val="DCE3EA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Random Forest gagne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40080" y="418795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Random Forest (90.5%) : meilleur partout — accuracy, F1, et temps correct pour la production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" y="45902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Decision Tree (85.3%) : correct mais un seul arbre = risque de surapprentissage = moins fiable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" y="499262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Naive Bayes (68.4%) : trop simple — suppose que temperature et mois sont independants, ce qui est faux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5394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Logistic Regression (70%) : ses frontieres de decision sont lineaires — ce probleme est non-lineaire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Random Forest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le choix de l'algorithme avec des arguments clairs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les avantages pour ce projet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au surapprentissage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fait la moyenne de 100 arbres, pas un seul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normalisation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en EUR et temperature en C coexistent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6 classes native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disponible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sait pourquoi il decide (interpretable)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stable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random_state=42 = meme resultat a chaque fois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decision chiffree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les autres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vs. Decision Tree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+5.2 pts (90.5% contre 85.3%)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RF plus stable grace au bagging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vs. Naive Bayes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+22 pts (90.5% contre 68.4%)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vs. Logistic Regression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+20 pts (90.5% contre 70.1%)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11274552" cy="2359152"/>
          </a:xfrm>
          <a:prstGeom prst="rect">
            <a:avLst>
              <a:gd name="adj" fmla="val 4651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50208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la configuration retenue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108173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RandomForestClassifier(n_estimators=100, max_depth=10, random_state=42)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n_estimators=100 : 50 arbres=89.1% · 100 arbres=90.5% · 200 arbres=90.6% — gain marginal, on garde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max_depth=10 : sans limite = 100% train mais 78% test (surapprentissage) — avec 10 = 90.52% test (bon)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random_state=42 : graine fixe = meme resultat garanti a chaque execution = reproductible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stratify : chaque categorie garde sa proportion dans train et test — metriques honnetes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Entrainement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: le split stratifie 80/20 avec graine fixe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Entrainer : le Random Forest avec les hyperparametres choisis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: best_model.pkl pour l'API Flask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&amp; configuration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chaque hyperparametre par des tests reels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n_estimators = 100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differents nombres d'arbres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 arbres  = 89.1%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arbres = 90.5% accuracy (retenu)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arbres = 90.6% (gain de 0.1% seulement)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100 arbres est le meilleur compromis entre performance et vitesse. Doubler ne vaut pas le coup.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max_depth = 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6248" y="1792224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sans limite de profondeur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Sans limite : 100% sur train mais seulement 78% sur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le modele a appris par coeur = surapprentissage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max_depth=10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90.52% sur test = bonne generalisation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modele comprend vraiment les 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548640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867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random_state = 42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425696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graine fixe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resultat change a chaque execution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Impossible de comparer les modeles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random_state=42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Meme resultat garanti a chaque fois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Chiffres reproductibles et comparables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dans la litterature 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3803904"/>
            <a:ext cx="5486400" cy="2487168"/>
          </a:xfrm>
          <a:prstGeom prst="rect">
            <a:avLst>
              <a:gd name="adj" fmla="val 4412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39867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stratify = y_encoded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4425696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stratify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d'avoir 0 exemple de Vegetarien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(seulement 12%) dans le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modele ne peut pas etre evalue sur cette classe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stratify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categorie garde 80%/20%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Toutes les classes sont evaluees correctement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d'entrainement complet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etapes cles de model_training.py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1476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12064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5 — Split stratifie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train_test_split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train_test_split(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y_encoded,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stratify=y_encoded)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print(len(X_train))  # 822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print(len(X_test))   # 206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6 — Entrainement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RandomForestClassifier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time.time()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print(time.time()-start)  # 0.353s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7 — Sauvegarder le modele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pickle.dump(rf, open(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"data/processed/best_model.pkl","wb"))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44768" y="1170432"/>
            <a:ext cx="5486400" cy="2304288"/>
          </a:xfrm>
          <a:prstGeom prst="rect">
            <a:avLst>
              <a:gd name="adj" fmla="val 4762"/>
            </a:avLst>
          </a:prstGeom>
          <a:solidFill>
            <a:srgbClr val="E8F7F6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Decrire le deroulement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792224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1 : Convertir les categories en chiffres (LabelEncoder)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 : Diviser 80% train / 20% test (stratifie)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 : rf.fit() — 100 arbres x 822 exemples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duree : 0.353 secondes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4 : rf.predict() — 206 predictions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5 : Calculer les metriques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6 : Sauvegarder en best_model.pkl (9.6 Mo)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3584448"/>
            <a:ext cx="5486400" cy="2542032"/>
          </a:xfrm>
          <a:prstGeom prst="rect">
            <a:avLst>
              <a:gd name="adj" fmla="val 4317"/>
            </a:avLst>
          </a:prstGeom>
          <a:solidFill>
            <a:srgbClr val="EB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3767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l'encodage des 6 classes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4206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convertir en chiffres 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ne travaille qu'avec des nombres.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fait la conversion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Dessert    3 =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Enfant     4 = Plat_du_jour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Entree     5 = Vegetarien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fin, l'API reconvertit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le.inverse_transform([3]) retourne "Grill"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train/test &amp; stratification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que chaque classe est bien representee dans train et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4956048"/>
          </a:xfrm>
          <a:prstGeom prst="rect">
            <a:avLst>
              <a:gd name="adj" fmla="val 2214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repartition stratifiee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493776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total : 1 028 commandes (100%)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: 822 exemples (80%)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 : 206 exemples (20%)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dans le TEST SET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 : 56 (27%)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       : 49 (24%)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     : 27 (13%)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      : 25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      : 24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   : 24 (12%)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: 205 ≈ 206  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5486400" cy="2395728"/>
          </a:xfrm>
          <a:prstGeom prst="rect">
            <a:avLst>
              <a:gd name="adj" fmla="val 4580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la stratification est essentielle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81928" y="1792224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stratification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split aleatoire pourrait donner 0 exemples de Vegetarien dans le test (12% = tres peu).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ne pourrait pas etre evalue sur cette classe.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stratify=y_encoded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80% de chaque classe dans train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20% de chaque classe dans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Metriques calculees sur toutes les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Resultats honnetes et comparables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3675888"/>
            <a:ext cx="5486400" cy="2450592"/>
          </a:xfrm>
          <a:prstGeom prst="rect">
            <a:avLst>
              <a:gd name="adj" fmla="val 4478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38587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: pas de data leakage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1928" y="42976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importants a verifier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jamais utilise pendant rf.fit()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entraine sur y_train seulement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partout pour la reproductibilite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normalisation requise (RF s'en passe)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206 exemples de test sont vraiment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"inconnus" pour le modele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L'evaluation est donc honnete et fiable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: la performance sur 206 exemples jamais vus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: la matrice de confusion classe par classe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: les erreurs et l'importance des 4 variables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de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et interpreter les 4 indicateurs du Random Forest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1417320"/>
          </a:xfrm>
          <a:prstGeom prst="rect">
            <a:avLst>
              <a:gd name="adj" fmla="val 7742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07592"/>
            <a:ext cx="26060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2386584" cy="538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1417320"/>
          </a:xfrm>
          <a:prstGeom prst="rect">
            <a:avLst>
              <a:gd name="adj" fmla="val 7742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07592"/>
            <a:ext cx="26060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10128" y="2084832"/>
            <a:ext cx="2386584" cy="538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606040" cy="1417320"/>
          </a:xfrm>
          <a:prstGeom prst="rect">
            <a:avLst>
              <a:gd name="adj" fmla="val 7742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307592"/>
            <a:ext cx="26060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53328" y="2084832"/>
            <a:ext cx="2386584" cy="538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1234440"/>
            <a:ext cx="2606040" cy="1417320"/>
          </a:xfrm>
          <a:prstGeom prst="rect">
            <a:avLst>
              <a:gd name="adj" fmla="val 7742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307592"/>
            <a:ext cx="26060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96528" y="2084832"/>
            <a:ext cx="2386584" cy="538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11274552" cy="3310128"/>
          </a:xfrm>
          <a:prstGeom prst="rect">
            <a:avLst>
              <a:gd name="adj" fmla="val 3315"/>
            </a:avLst>
          </a:prstGeom>
          <a:solidFill>
            <a:srgbClr val="DCE3E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ce que signifient ces metriques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90.52%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: 9 predictions sur 10 sont correctes — tres solide pour 6 categories avec 4 variables seulement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85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90.02%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7856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quand le modele dit "Grill", il a raison 90% du temps — peu de fausses recommandations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187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90.52%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1879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le modele detecte 90.5% des vrais cas de chaque categorie — il en rate tres peu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90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89.31%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5902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 : equilibre entre precision et rappel — le modele est bon sur toutes les categories, pas juste les frequentes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9926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Pondere (weighted)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9926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Preciser : les metriques sont ponderees — Plat_du_jour (27%) compte plus que Vegetarien (12%)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— Random Forest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: chaque ligne = classe reelle, chaque colonne = classe predite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diagonale (vert) = predictions correctes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89888"/>
            <a:ext cx="868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47288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97096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197096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46904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96712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5696712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Plat_dj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389888"/>
            <a:ext cx="749808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3898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83080" y="17556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17556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97480" y="17556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47288" y="1755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97096" y="17556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46904" y="1755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96712" y="17556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96712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1755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755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783080" y="22128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22128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97480" y="22128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47288" y="22128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97096" y="22128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7096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46904" y="22128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46904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96712" y="22128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96712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46520" y="22128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22128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783080" y="26700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50" name="Text 48"/>
          <p:cNvSpPr/>
          <p:nvPr/>
        </p:nvSpPr>
        <p:spPr>
          <a:xfrm>
            <a:off x="1783080" y="26700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97480" y="26700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447288" y="26700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47288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197096" y="26700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97096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946904" y="26700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46904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696712" y="26700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96712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46520" y="26700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26700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783080" y="31272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64" name="Text 62"/>
          <p:cNvSpPr/>
          <p:nvPr/>
        </p:nvSpPr>
        <p:spPr>
          <a:xfrm>
            <a:off x="1783080" y="31272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697480" y="31272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7480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447288" y="31272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47288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197096" y="31272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97096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46904" y="31272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46904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696712" y="31272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96712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446520" y="31272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46520" y="31272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783080" y="35844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78" name="Text 76"/>
          <p:cNvSpPr/>
          <p:nvPr/>
        </p:nvSpPr>
        <p:spPr>
          <a:xfrm>
            <a:off x="1783080" y="35844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Plat_dj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97480" y="35844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97480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447288" y="35844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47288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197096" y="35844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97096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4946904" y="35844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6904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696712" y="35844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96712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446520" y="35844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46520" y="35844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1783080" y="4041648"/>
            <a:ext cx="868680" cy="438912"/>
          </a:xfrm>
          <a:prstGeom prst="rect">
            <a:avLst/>
          </a:prstGeom>
          <a:solidFill>
            <a:srgbClr val="E8F7F6"/>
          </a:solidFill>
          <a:ln/>
        </p:spPr>
      </p:sp>
      <p:sp>
        <p:nvSpPr>
          <p:cNvPr id="92" name="Text 90"/>
          <p:cNvSpPr/>
          <p:nvPr/>
        </p:nvSpPr>
        <p:spPr>
          <a:xfrm>
            <a:off x="1783080" y="40416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Vegeta.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697480" y="4041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97480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3447288" y="4041648"/>
            <a:ext cx="749808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47288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4197096" y="4041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97096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4946904" y="4041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46904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5696712" y="4041648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96712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6446520" y="4041648"/>
            <a:ext cx="749808" cy="438912"/>
          </a:xfrm>
          <a:prstGeom prst="rect">
            <a:avLst/>
          </a:prstGeom>
          <a:solidFill>
            <a:srgbClr val="12B8B0"/>
          </a:solidFill>
          <a:ln w="12700">
            <a:solidFill>
              <a:srgbClr val="12B8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46520" y="4041648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8394192" y="1170432"/>
            <a:ext cx="3520440" cy="4956048"/>
          </a:xfrm>
          <a:prstGeom prst="rect">
            <a:avLst>
              <a:gd name="adj" fmla="val 3117"/>
            </a:avLst>
          </a:prstGeom>
          <a:solidFill>
            <a:srgbClr val="EBF2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8622792" y="13533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les erreurs</a:t>
            </a:r>
            <a:endParaRPr lang="en-US" sz="1500" dirty="0"/>
          </a:p>
        </p:txBody>
      </p:sp>
      <p:sp>
        <p:nvSpPr>
          <p:cNvPr id="107" name="Text 105"/>
          <p:cNvSpPr/>
          <p:nvPr/>
        </p:nvSpPr>
        <p:spPr>
          <a:xfrm>
            <a:off x="8622792" y="1792224"/>
            <a:ext cx="30632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sur 206 correctes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les plus frequentes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Plat_dj predit Grill (2 cas)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17EUR + temp 20C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deux categories sont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ambigues dans ce cas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predit Plat_dj (1 cas)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Profils tres proches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predit Vegeta. (1 cas)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faible similaire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Rassurer le jury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erreur grave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Dessert →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Enfant →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classes tres differentes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sont jamais confondues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— predictions du modele en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des exemples concrets de ce que fait le modele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64592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(C)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170432"/>
            <a:ext cx="164592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(EUR)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170432"/>
            <a:ext cx="82296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17043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70432"/>
            <a:ext cx="82296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7043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1170432"/>
            <a:ext cx="201168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170432"/>
            <a:ext cx="1828800" cy="384048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1704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572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15727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1572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5727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5727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5727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5727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1572768"/>
            <a:ext cx="2011680" cy="438912"/>
          </a:xfrm>
          <a:prstGeom prst="rect">
            <a:avLst/>
          </a:prstGeom>
          <a:solidFill>
            <a:srgbClr val="E8F7F6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727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1572768"/>
            <a:ext cx="1828800" cy="438912"/>
          </a:xfrm>
          <a:prstGeom prst="rect">
            <a:avLst/>
          </a:prstGeom>
          <a:solidFill>
            <a:srgbClr val="EAF7EA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5727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Grill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0299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029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20299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2029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49040" y="20299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0299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20299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0299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2029968"/>
            <a:ext cx="2011680" cy="438912"/>
          </a:xfrm>
          <a:prstGeom prst="rect">
            <a:avLst/>
          </a:prstGeom>
          <a:solidFill>
            <a:srgbClr val="E8F7F6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0299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2029968"/>
            <a:ext cx="1828800" cy="438912"/>
          </a:xfrm>
          <a:prstGeom prst="rect">
            <a:avLst/>
          </a:prstGeom>
          <a:solidFill>
            <a:srgbClr val="EAF7EA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20299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Dessert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24871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24871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03120" y="24871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48840" y="24871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49040" y="24871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24871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24871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24871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2487168"/>
            <a:ext cx="2011680" cy="438912"/>
          </a:xfrm>
          <a:prstGeom prst="rect">
            <a:avLst/>
          </a:prstGeom>
          <a:solidFill>
            <a:srgbClr val="E8F7F6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24871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06640" y="2487168"/>
            <a:ext cx="1828800" cy="438912"/>
          </a:xfrm>
          <a:prstGeom prst="rect">
            <a:avLst/>
          </a:prstGeom>
          <a:solidFill>
            <a:srgbClr val="EAF7EA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Plat_du_jour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29443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29443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2944368"/>
            <a:ext cx="164592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29443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749040" y="29443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29443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0" y="2944368"/>
            <a:ext cx="822960" cy="438912"/>
          </a:xfrm>
          <a:prstGeom prst="rect">
            <a:avLst/>
          </a:prstGeom>
          <a:solidFill>
            <a:srgbClr val="F0FAF8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29443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394960" y="2944368"/>
            <a:ext cx="2011680" cy="438912"/>
          </a:xfrm>
          <a:prstGeom prst="rect">
            <a:avLst/>
          </a:prstGeom>
          <a:solidFill>
            <a:srgbClr val="E8F7F6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0680" y="29443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06640" y="2944368"/>
            <a:ext cx="1828800" cy="438912"/>
          </a:xfrm>
          <a:prstGeom prst="rect">
            <a:avLst/>
          </a:prstGeom>
          <a:solidFill>
            <a:srgbClr val="EAF7EA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29443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Entree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3401568"/>
            <a:ext cx="164592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34015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103120" y="3401568"/>
            <a:ext cx="164592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48840" y="34015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749040" y="3401568"/>
            <a:ext cx="82296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94760" y="34015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572000" y="3401568"/>
            <a:ext cx="82296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D0E0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0" y="34015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394960" y="3401568"/>
            <a:ext cx="201168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40680" y="3401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406640" y="3401568"/>
            <a:ext cx="182880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C0D8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52360" y="34015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— Plat_dj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57200" y="4069080"/>
            <a:ext cx="11274552" cy="2057400"/>
          </a:xfrm>
          <a:prstGeom prst="rect">
            <a:avLst>
              <a:gd name="adj" fmla="val 5333"/>
            </a:avLst>
          </a:prstGeom>
          <a:solidFill>
            <a:srgbClr val="E8F7F6"/>
          </a:solidFill>
          <a:ln/>
        </p:spPr>
      </p:sp>
      <p:sp>
        <p:nvSpPr>
          <p:cNvPr id="80" name="Text 78"/>
          <p:cNvSpPr/>
          <p:nvPr/>
        </p:nvSpPr>
        <p:spPr>
          <a:xfrm>
            <a:off x="685800" y="4251960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l'importance des 4 variables (rf.feature_importances_)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685800" y="4690872"/>
            <a:ext cx="10817352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chaque variable compte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temperature_c : 42% — signal le plus fort — chaud = Grill, froid = plats chauds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: 35% — discriminant fort — moins de 10EUR = Entree/Dessert, plus de 18EUR = Grill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mois : 14% — saisonnalite — hiver = Grill, ete = Vegetarien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jour_semaine : 9% — habitudes hebdo — week-end = Grill et Dessert augmentent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&amp; integration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Annoncer : les indicateurs cles du modele Random Forest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comment le modele est integre dans l'API Flask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: le modele est pret pour la production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chiffres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Annoncer les 6 indicateurs cles du modele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20440" cy="1389888"/>
          </a:xfrm>
          <a:prstGeom prst="rect">
            <a:avLst>
              <a:gd name="adj" fmla="val 7895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0759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206837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Random Forest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1234440"/>
            <a:ext cx="3520440" cy="1389888"/>
          </a:xfrm>
          <a:prstGeom prst="rect">
            <a:avLst>
              <a:gd name="adj" fmla="val 7895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30759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61104" y="206837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d'entree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45552" y="1234440"/>
            <a:ext cx="3520440" cy="1389888"/>
          </a:xfrm>
          <a:prstGeom prst="rect">
            <a:avLst>
              <a:gd name="adj" fmla="val 7895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30759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955280" y="206837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benchmarkes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3520440" cy="1389888"/>
          </a:xfrm>
          <a:prstGeom prst="rect">
            <a:avLst>
              <a:gd name="adj" fmla="val 7895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6207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6928" y="362285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d'entr.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51376" y="2788920"/>
            <a:ext cx="3520440" cy="1389888"/>
          </a:xfrm>
          <a:prstGeom prst="rect">
            <a:avLst>
              <a:gd name="adj" fmla="val 7895"/>
            </a:avLst>
          </a:prstGeom>
          <a:solidFill>
            <a:srgbClr val="E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286207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261104" y="362285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d'entrainement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45552" y="2788920"/>
            <a:ext cx="3520440" cy="1389888"/>
          </a:xfrm>
          <a:prstGeom prst="rect">
            <a:avLst>
              <a:gd name="adj" fmla="val 7895"/>
            </a:avLst>
          </a:prstGeom>
          <a:solidFill>
            <a:srgbClr val="EB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862072"/>
            <a:ext cx="3520440" cy="76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955280" y="3622853"/>
            <a:ext cx="3300984" cy="52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predites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11274552" cy="1828800"/>
          </a:xfrm>
          <a:prstGeom prst="rect">
            <a:avLst>
              <a:gd name="adj" fmla="val 6000"/>
            </a:avLst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074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 sur le bilan du modele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7731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4773168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90.52% accuracy sur 206 exemples jamais vus — meilleur des 4 algorithmes testes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1023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: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23160" y="510235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+ random_state=42 = resultats stables et reproductibles a chaque run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4315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5431536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0.35s d'entrainement et moins de 1ms par prediction = compatible avec l'API Flask en temps reel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760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576072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 (9.6 Mo) charge au demarrage Flask — endpoint /predict pret pour la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0"/>
            <a:ext cx="457200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Resumer : Random Forest · 90.52% · 4 features · 0.35s · Pret pour l'API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Resumer le travail ML en 4 points cles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457200" cy="2487168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350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1 028 commandes, 6 classes, 4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extraction mois + jour = +22 pts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: donnees issues du pipeline ETL valide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486400" cy="2487168"/>
          </a:xfrm>
          <a:prstGeom prst="rect">
            <a:avLst>
              <a:gd name="adj" fmla="val 4412"/>
            </a:avLst>
          </a:prstGeom>
          <a:solidFill>
            <a:srgbClr val="EB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170432"/>
            <a:ext cx="457200" cy="2487168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13350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22008" y="176479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4 algorithmes testes sur les memes donnees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Announcer : Random Forest gagne avec +5 pts vs DT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configuration 100 arbres, profondeur 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5486400" cy="2487168"/>
          </a:xfrm>
          <a:prstGeom prst="rect">
            <a:avLst>
              <a:gd name="adj" fmla="val 4412"/>
            </a:avLst>
          </a:prstGeom>
          <a:solidFill>
            <a:srgbClr val="E8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03904"/>
            <a:ext cx="457200" cy="2487168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684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398264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: 90.52% accuracy, 89.31% F1-Score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matrice de confusion sans erreur grave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 : erreurs seulement entre classes voisines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3803904"/>
            <a:ext cx="5486400" cy="2487168"/>
          </a:xfrm>
          <a:prstGeom prst="rect">
            <a:avLst>
              <a:gd name="adj" fmla="val 4412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3803904"/>
            <a:ext cx="457200" cy="2487168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39684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22008" y="4398264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best_model.pkl (9.6 Mo) en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: charge au demarrage Flask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: prediction en moins de 1 milliseconde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2026-09-06T16:27:13Z</dcterms:created>
  <dcterms:modified xsi:type="dcterms:W3CDTF">2026-09-06T16:27:13Z</dcterms:modified>
</cp:coreProperties>
</file>